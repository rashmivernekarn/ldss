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sldIdLst>
    <p:sldId id="256" r:id="rId2"/>
    <p:sldId id="267" r:id="rId3"/>
    <p:sldId id="268" r:id="rId4"/>
    <p:sldId id="269" r:id="rId5"/>
    <p:sldId id="271" r:id="rId6"/>
    <p:sldId id="272" r:id="rId7"/>
    <p:sldId id="273" r:id="rId8"/>
    <p:sldId id="283" r:id="rId9"/>
    <p:sldId id="257" r:id="rId10"/>
    <p:sldId id="274" r:id="rId11"/>
    <p:sldId id="275" r:id="rId12"/>
    <p:sldId id="258" r:id="rId13"/>
    <p:sldId id="276" r:id="rId14"/>
    <p:sldId id="259" r:id="rId15"/>
    <p:sldId id="266" r:id="rId16"/>
    <p:sldId id="277" r:id="rId17"/>
    <p:sldId id="278" r:id="rId18"/>
    <p:sldId id="279" r:id="rId19"/>
    <p:sldId id="282" r:id="rId20"/>
    <p:sldId id="281" r:id="rId21"/>
  </p:sldIdLst>
  <p:sldSz cx="12192000" cy="6858000"/>
  <p:notesSz cx="6858000" cy="9144000"/>
  <p:photoAlbum layout="2pic"/>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63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2712F-BA66-4EB0-AB05-58A8D1355E6E}" type="datetimeFigureOut">
              <a:rPr lang="en-GB" smtClean="0"/>
              <a:t>22/10/2026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175B98-B069-499E-A845-31F9B25178B0}" type="slidenum">
              <a:rPr lang="en-GB" smtClean="0"/>
              <a:t>‹#›</a:t>
            </a:fld>
            <a:endParaRPr lang="en-GB"/>
          </a:p>
        </p:txBody>
      </p:sp>
    </p:spTree>
    <p:extLst>
      <p:ext uri="{BB962C8B-B14F-4D97-AF65-F5344CB8AC3E}">
        <p14:creationId xmlns:p14="http://schemas.microsoft.com/office/powerpoint/2010/main" val="234915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175B98-B069-499E-A845-31F9B25178B0}" type="slidenum">
              <a:rPr lang="en-GB" smtClean="0"/>
              <a:t>3</a:t>
            </a:fld>
            <a:endParaRPr lang="en-GB"/>
          </a:p>
        </p:txBody>
      </p:sp>
    </p:spTree>
    <p:extLst>
      <p:ext uri="{BB962C8B-B14F-4D97-AF65-F5344CB8AC3E}">
        <p14:creationId xmlns:p14="http://schemas.microsoft.com/office/powerpoint/2010/main" val="1824504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4175B98-B069-499E-A845-31F9B25178B0}" type="slidenum">
              <a:rPr lang="en-GB" smtClean="0"/>
              <a:t>4</a:t>
            </a:fld>
            <a:endParaRPr lang="en-GB"/>
          </a:p>
        </p:txBody>
      </p:sp>
    </p:spTree>
    <p:extLst>
      <p:ext uri="{BB962C8B-B14F-4D97-AF65-F5344CB8AC3E}">
        <p14:creationId xmlns:p14="http://schemas.microsoft.com/office/powerpoint/2010/main" val="3354011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14163553-1794-417B-8D57-F88E66ED6F75}" type="datetime1">
              <a:rPr lang="en-GB" smtClean="0"/>
              <a:t>22/10/2026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3973801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C8DB6F7-286C-47E5-B3BF-4333551A8AC4}" type="datetime1">
              <a:rPr lang="en-GB" smtClean="0"/>
              <a:t>22/10/2026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785863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199F0BC-61EA-4BFB-86E0-D13056C51308}" type="datetime1">
              <a:rPr lang="en-GB" smtClean="0"/>
              <a:t>22/10/2026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3934978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884B074-349B-4682-B8CC-B2CE6461AF53}" type="datetime1">
              <a:rPr lang="en-GB" smtClean="0"/>
              <a:t>22/10/2026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2500424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A2805127-891F-4CF9-A927-1784C60F1F9B}" type="datetime1">
              <a:rPr lang="en-GB" smtClean="0"/>
              <a:t>22/10/2026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389246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D9F1F0E4-054A-47C1-8829-C02A50F4F5B6}" type="datetime1">
              <a:rPr lang="en-GB" smtClean="0"/>
              <a:t>22/10/2026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1130040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D811A-81A9-4858-AC23-C77C250F3A51}" type="datetime1">
              <a:rPr lang="en-GB" smtClean="0"/>
              <a:t>22/10/2026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3413402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50895A-42D1-4C9B-8549-41946D89CC72}" type="datetime1">
              <a:rPr lang="en-GB" smtClean="0"/>
              <a:t>22/10/2026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713567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F67D004-71D5-4816-8C36-F6AC528273C4}" type="datetime1">
              <a:rPr lang="en-GB" smtClean="0"/>
              <a:t>22/10/2026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2714467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2C5CB83-18BD-4EB9-9AF3-CAF844A0AF35}" type="datetime1">
              <a:rPr lang="en-GB" smtClean="0"/>
              <a:t>22/10/2026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783499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00E05CB2-BC5F-4F54-AD99-059079CF0453}" type="datetime1">
              <a:rPr lang="en-GB" smtClean="0"/>
              <a:t>22/10/2026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5720A3F-7A78-48BD-8DEE-96C8A2C41E87}" type="slidenum">
              <a:rPr lang="en-GB" smtClean="0"/>
              <a:t>‹#›</a:t>
            </a:fld>
            <a:endParaRPr lang="en-GB"/>
          </a:p>
        </p:txBody>
      </p:sp>
    </p:spTree>
    <p:extLst>
      <p:ext uri="{BB962C8B-B14F-4D97-AF65-F5344CB8AC3E}">
        <p14:creationId xmlns:p14="http://schemas.microsoft.com/office/powerpoint/2010/main" val="2669113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C4A66F-DA77-461F-8A49-C59F51CA15DD}" type="datetime1">
              <a:rPr lang="en-GB" smtClean="0"/>
              <a:t>22/10/2026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0A3F-7A78-48BD-8DEE-96C8A2C41E87}" type="slidenum">
              <a:rPr lang="en-GB" smtClean="0"/>
              <a:t>‹#›</a:t>
            </a:fld>
            <a:endParaRPr lang="en-GB"/>
          </a:p>
        </p:txBody>
      </p:sp>
    </p:spTree>
    <p:extLst>
      <p:ext uri="{BB962C8B-B14F-4D97-AF65-F5344CB8AC3E}">
        <p14:creationId xmlns:p14="http://schemas.microsoft.com/office/powerpoint/2010/main" val="4228025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8.png"/><Relationship Id="rId5" Type="http://schemas.openxmlformats.org/officeDocument/2006/relationships/slideLayout" Target="../slideLayouts/slideLayout7.xml"/><Relationship Id="rId4" Type="http://schemas.openxmlformats.org/officeDocument/2006/relationships/video" Target="../media/media2.mp4"/></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789042"/>
            <a:ext cx="12192000" cy="3061252"/>
          </a:xfrm>
        </p:spPr>
        <p:txBody>
          <a:bodyPr anchor="ctr">
            <a:noAutofit/>
          </a:bodyPr>
          <a:lstStyle/>
          <a:p>
            <a:r>
              <a:rPr lang="en-GB" sz="3600" b="1" dirty="0">
                <a:solidFill>
                  <a:srgbClr val="002060"/>
                </a:solidFill>
              </a:rPr>
              <a:t>FOUNTAIN RESTORATION - BRINGING BACK THE IT PARK </a:t>
            </a:r>
            <a:r>
              <a:rPr lang="en-GB" sz="3600" b="1" dirty="0" smtClean="0">
                <a:solidFill>
                  <a:srgbClr val="002060"/>
                </a:solidFill>
              </a:rPr>
              <a:t>GLORY From </a:t>
            </a:r>
            <a:r>
              <a:rPr lang="en-GB" sz="3600" b="1" dirty="0">
                <a:solidFill>
                  <a:srgbClr val="002060"/>
                </a:solidFill>
              </a:rPr>
              <a:t>Neglected Corner to Attractive Waiting </a:t>
            </a:r>
            <a:r>
              <a:rPr lang="en-GB" sz="3600" b="1" dirty="0" smtClean="0">
                <a:solidFill>
                  <a:srgbClr val="002060"/>
                </a:solidFill>
              </a:rPr>
              <a:t>Area</a:t>
            </a:r>
            <a:br>
              <a:rPr lang="en-GB" sz="3600" b="1" dirty="0" smtClean="0">
                <a:solidFill>
                  <a:srgbClr val="002060"/>
                </a:solidFill>
              </a:rPr>
            </a:br>
            <a:r>
              <a:rPr lang="en-GB" sz="3600" b="1" dirty="0">
                <a:solidFill>
                  <a:srgbClr val="002060"/>
                </a:solidFill>
              </a:rPr>
              <a:t/>
            </a:r>
            <a:br>
              <a:rPr lang="en-GB" sz="3600" b="1" dirty="0">
                <a:solidFill>
                  <a:srgbClr val="002060"/>
                </a:solidFill>
              </a:rPr>
            </a:br>
            <a:r>
              <a:rPr lang="en-GB" sz="3600" b="1" dirty="0" smtClean="0">
                <a:solidFill>
                  <a:srgbClr val="002060"/>
                </a:solidFill>
              </a:rPr>
              <a:t>A Small Initiative, Big Impact - Improving Visitor Experience </a:t>
            </a:r>
            <a:br>
              <a:rPr lang="en-GB" sz="3600" b="1" dirty="0" smtClean="0">
                <a:solidFill>
                  <a:srgbClr val="002060"/>
                </a:solidFill>
              </a:rPr>
            </a:br>
            <a:r>
              <a:rPr lang="en-GB" sz="3600" b="1" dirty="0" smtClean="0">
                <a:solidFill>
                  <a:srgbClr val="002060"/>
                </a:solidFill>
              </a:rPr>
              <a:t>at </a:t>
            </a:r>
            <a:r>
              <a:rPr lang="en-GB" sz="3600" b="1" dirty="0" err="1" smtClean="0">
                <a:solidFill>
                  <a:srgbClr val="002060"/>
                </a:solidFill>
              </a:rPr>
              <a:t>Hubli</a:t>
            </a:r>
            <a:r>
              <a:rPr lang="en-GB" sz="3600" b="1" dirty="0" smtClean="0">
                <a:solidFill>
                  <a:srgbClr val="002060"/>
                </a:solidFill>
              </a:rPr>
              <a:t> IT Park</a:t>
            </a:r>
            <a:endParaRPr lang="en-GB" sz="3600" b="1" dirty="0">
              <a:solidFill>
                <a:srgbClr val="002060"/>
              </a:solidFill>
            </a:endParaRPr>
          </a:p>
        </p:txBody>
      </p:sp>
    </p:spTree>
    <p:extLst>
      <p:ext uri="{BB962C8B-B14F-4D97-AF65-F5344CB8AC3E}">
        <p14:creationId xmlns:p14="http://schemas.microsoft.com/office/powerpoint/2010/main" val="586267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5 at 11.47.37 AM"/>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283957" y="1736034"/>
            <a:ext cx="5537062" cy="4863547"/>
          </a:xfrm>
          <a:prstGeom prst="rect">
            <a:avLst/>
          </a:prstGeom>
          <a:noFill/>
          <a:ln>
            <a:noFill/>
          </a:ln>
        </p:spPr>
      </p:pic>
      <p:pic>
        <p:nvPicPr>
          <p:cNvPr id="3" name="Picture 2" descr="WhatsApp Image 2026-10-06 at 11.21.32 AM"/>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386660" y="1736034"/>
            <a:ext cx="5537062" cy="4863547"/>
          </a:xfrm>
          <a:prstGeom prst="rect">
            <a:avLst/>
          </a:prstGeom>
          <a:noFill/>
          <a:ln>
            <a:noFill/>
          </a:ln>
        </p:spPr>
      </p:pic>
      <p:sp>
        <p:nvSpPr>
          <p:cNvPr id="4" name="TextBox 3"/>
          <p:cNvSpPr txBox="1"/>
          <p:nvPr/>
        </p:nvSpPr>
        <p:spPr>
          <a:xfrm>
            <a:off x="386660" y="661744"/>
            <a:ext cx="5537062" cy="830997"/>
          </a:xfrm>
          <a:prstGeom prst="rect">
            <a:avLst/>
          </a:prstGeom>
          <a:noFill/>
        </p:spPr>
        <p:txBody>
          <a:bodyPr wrap="square" rtlCol="0">
            <a:spAutoFit/>
          </a:bodyPr>
          <a:lstStyle/>
          <a:p>
            <a:pPr algn="ctr"/>
            <a:r>
              <a:rPr lang="en-GB" sz="2400" b="1" dirty="0" smtClean="0">
                <a:solidFill>
                  <a:srgbClr val="002060"/>
                </a:solidFill>
              </a:rPr>
              <a:t>BEFORE: Non-Functional &amp; Unattractive - IT Look Missing</a:t>
            </a:r>
            <a:endParaRPr lang="en-GB" sz="2400" b="1" dirty="0">
              <a:solidFill>
                <a:srgbClr val="002060"/>
              </a:solidFill>
            </a:endParaRPr>
          </a:p>
        </p:txBody>
      </p:sp>
      <p:sp>
        <p:nvSpPr>
          <p:cNvPr id="6" name="TextBox 5"/>
          <p:cNvSpPr txBox="1"/>
          <p:nvPr/>
        </p:nvSpPr>
        <p:spPr>
          <a:xfrm>
            <a:off x="6283957" y="661744"/>
            <a:ext cx="5537062" cy="830997"/>
          </a:xfrm>
          <a:prstGeom prst="rect">
            <a:avLst/>
          </a:prstGeom>
          <a:noFill/>
        </p:spPr>
        <p:txBody>
          <a:bodyPr wrap="square" rtlCol="0">
            <a:spAutoFit/>
          </a:bodyPr>
          <a:lstStyle/>
          <a:p>
            <a:pPr algn="ctr"/>
            <a:r>
              <a:rPr lang="en-GB" sz="2400" b="1" dirty="0" smtClean="0">
                <a:solidFill>
                  <a:srgbClr val="002060"/>
                </a:solidFill>
              </a:rPr>
              <a:t>AFTER: Fully Restored &amp; Beautiful - Welcoming Ambience for Visitors</a:t>
            </a:r>
            <a:endParaRPr lang="en-GB" sz="2400" b="1" dirty="0">
              <a:solidFill>
                <a:srgbClr val="002060"/>
              </a:solidFill>
            </a:endParaRPr>
          </a:p>
        </p:txBody>
      </p:sp>
      <p:sp>
        <p:nvSpPr>
          <p:cNvPr id="7" name="Footer Placeholder 6"/>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4952107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6 at 11.29.21 AM"/>
          <p:cNvPicPr>
            <a:picLocks noGrp="1" noChangeAspect="1"/>
          </p:cNvPicPr>
          <p:nvPr isPhoto="1"/>
        </p:nvPicPr>
        <p:blipFill rotWithShape="1">
          <a:blip r:embed="rId3">
            <a:lum/>
            <a:extLst>
              <a:ext uri="{28A0092B-C50C-407E-A947-70E740481C1C}">
                <a14:useLocalDpi xmlns:a14="http://schemas.microsoft.com/office/drawing/2010/main" val="0"/>
              </a:ext>
            </a:extLst>
          </a:blip>
          <a:srcRect l="9665" t="13140" r="10899" b="11055"/>
          <a:stretch/>
        </p:blipFill>
        <p:spPr>
          <a:xfrm>
            <a:off x="6414052" y="1267294"/>
            <a:ext cx="5552661" cy="5292532"/>
          </a:xfrm>
          <a:prstGeom prst="rect">
            <a:avLst/>
          </a:prstGeom>
          <a:noFill/>
          <a:ln>
            <a:noFill/>
          </a:ln>
        </p:spPr>
      </p:pic>
      <p:sp>
        <p:nvSpPr>
          <p:cNvPr id="5" name="Rectangle 4"/>
          <p:cNvSpPr/>
          <p:nvPr/>
        </p:nvSpPr>
        <p:spPr>
          <a:xfrm>
            <a:off x="186841" y="1267294"/>
            <a:ext cx="5803142" cy="5292532"/>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Rectangle 6"/>
          <p:cNvSpPr/>
          <p:nvPr/>
        </p:nvSpPr>
        <p:spPr>
          <a:xfrm>
            <a:off x="306110" y="163851"/>
            <a:ext cx="11779872" cy="954107"/>
          </a:xfrm>
          <a:prstGeom prst="rect">
            <a:avLst/>
          </a:prstGeom>
        </p:spPr>
        <p:txBody>
          <a:bodyPr wrap="square">
            <a:spAutoFit/>
          </a:bodyPr>
          <a:lstStyle/>
          <a:p>
            <a:pPr algn="ctr"/>
            <a:r>
              <a:rPr lang="en-GB" sz="2800" b="1" dirty="0" smtClean="0">
                <a:solidFill>
                  <a:srgbClr val="002060"/>
                </a:solidFill>
              </a:rPr>
              <a:t>BEFORE &amp; AFTER - FOUNTAIN MAKE OVER</a:t>
            </a:r>
          </a:p>
          <a:p>
            <a:pPr algn="ctr"/>
            <a:r>
              <a:rPr lang="en-GB" sz="2800" b="1" dirty="0" smtClean="0">
                <a:solidFill>
                  <a:srgbClr val="002060"/>
                </a:solidFill>
              </a:rPr>
              <a:t> From Dumped Stones to Beautiful Art Piece</a:t>
            </a:r>
            <a:endParaRPr lang="en-GB" sz="2800" b="1" dirty="0">
              <a:solidFill>
                <a:srgbClr val="002060"/>
              </a:solidFill>
            </a:endParaRPr>
          </a:p>
        </p:txBody>
      </p:sp>
      <p:sp>
        <p:nvSpPr>
          <p:cNvPr id="8" name="TextBox 7"/>
          <p:cNvSpPr txBox="1"/>
          <p:nvPr/>
        </p:nvSpPr>
        <p:spPr>
          <a:xfrm>
            <a:off x="133831" y="920979"/>
            <a:ext cx="1298713" cy="369332"/>
          </a:xfrm>
          <a:prstGeom prst="rect">
            <a:avLst/>
          </a:prstGeom>
          <a:noFill/>
        </p:spPr>
        <p:txBody>
          <a:bodyPr wrap="square" rtlCol="0">
            <a:spAutoFit/>
          </a:bodyPr>
          <a:lstStyle/>
          <a:p>
            <a:r>
              <a:rPr lang="en-GB" b="1" dirty="0" smtClean="0">
                <a:solidFill>
                  <a:srgbClr val="002060"/>
                </a:solidFill>
              </a:rPr>
              <a:t>BEFORE</a:t>
            </a:r>
            <a:endParaRPr lang="en-GB" dirty="0"/>
          </a:p>
        </p:txBody>
      </p:sp>
      <p:sp>
        <p:nvSpPr>
          <p:cNvPr id="9" name="TextBox 8"/>
          <p:cNvSpPr txBox="1"/>
          <p:nvPr/>
        </p:nvSpPr>
        <p:spPr>
          <a:xfrm>
            <a:off x="11264349" y="933292"/>
            <a:ext cx="993912" cy="369332"/>
          </a:xfrm>
          <a:prstGeom prst="rect">
            <a:avLst/>
          </a:prstGeom>
          <a:noFill/>
        </p:spPr>
        <p:txBody>
          <a:bodyPr wrap="square" rtlCol="0">
            <a:spAutoFit/>
          </a:bodyPr>
          <a:lstStyle/>
          <a:p>
            <a:r>
              <a:rPr lang="en-GB" b="1" dirty="0" smtClean="0">
                <a:solidFill>
                  <a:srgbClr val="002060"/>
                </a:solidFill>
              </a:rPr>
              <a:t>AFTER</a:t>
            </a:r>
            <a:endParaRPr lang="en-GB" dirty="0"/>
          </a:p>
        </p:txBody>
      </p:sp>
    </p:spTree>
    <p:extLst>
      <p:ext uri="{BB962C8B-B14F-4D97-AF65-F5344CB8AC3E}">
        <p14:creationId xmlns:p14="http://schemas.microsoft.com/office/powerpoint/2010/main" val="32612547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5531" y="225288"/>
            <a:ext cx="11595652" cy="6186309"/>
          </a:xfrm>
          <a:prstGeom prst="rect">
            <a:avLst/>
          </a:prstGeom>
        </p:spPr>
        <p:txBody>
          <a:bodyPr wrap="square">
            <a:spAutoFit/>
          </a:bodyPr>
          <a:lstStyle/>
          <a:p>
            <a:r>
              <a:rPr lang="en-GB" sz="3600" b="1" dirty="0" smtClean="0">
                <a:solidFill>
                  <a:srgbClr val="002060"/>
                </a:solidFill>
              </a:rPr>
              <a:t>Observation:</a:t>
            </a:r>
          </a:p>
          <a:p>
            <a:pPr algn="just"/>
            <a:r>
              <a:rPr lang="en-GB" sz="3600" dirty="0" smtClean="0">
                <a:solidFill>
                  <a:srgbClr val="002060"/>
                </a:solidFill>
              </a:rPr>
              <a:t>Fountain was damaged and non-functional for a long time, giving a dull look to IT Park building.</a:t>
            </a:r>
          </a:p>
          <a:p>
            <a:pPr algn="just"/>
            <a:r>
              <a:rPr lang="en-GB" sz="3600" b="1" dirty="0" smtClean="0">
                <a:solidFill>
                  <a:srgbClr val="002060"/>
                </a:solidFill>
              </a:rPr>
              <a:t>Action Taken: </a:t>
            </a:r>
          </a:p>
          <a:p>
            <a:pPr algn="just"/>
            <a:r>
              <a:rPr lang="en-GB" sz="3600" dirty="0" smtClean="0">
                <a:solidFill>
                  <a:srgbClr val="002060"/>
                </a:solidFill>
              </a:rPr>
              <a:t>As suggested to Manager Vijay </a:t>
            </a:r>
            <a:r>
              <a:rPr lang="en-GB" sz="3600" dirty="0" err="1" smtClean="0">
                <a:solidFill>
                  <a:srgbClr val="002060"/>
                </a:solidFill>
              </a:rPr>
              <a:t>Dev</a:t>
            </a:r>
            <a:r>
              <a:rPr lang="en-GB" sz="3600" dirty="0" smtClean="0">
                <a:solidFill>
                  <a:srgbClr val="002060"/>
                </a:solidFill>
              </a:rPr>
              <a:t> Sir, Security &amp; Housekeeping team jointly repaired and restored the fountain.</a:t>
            </a:r>
          </a:p>
          <a:p>
            <a:pPr algn="just"/>
            <a:r>
              <a:rPr lang="en-GB" sz="3600" b="1" dirty="0" smtClean="0">
                <a:solidFill>
                  <a:srgbClr val="002060"/>
                </a:solidFill>
              </a:rPr>
              <a:t>Impact: </a:t>
            </a:r>
          </a:p>
          <a:p>
            <a:pPr algn="just"/>
            <a:r>
              <a:rPr lang="en-GB" sz="3600" dirty="0" smtClean="0">
                <a:solidFill>
                  <a:srgbClr val="002060"/>
                </a:solidFill>
              </a:rPr>
              <a:t>Now Passport Office visitors waiting outside feel pleasant. Restored fountain enhances the IT Park image and provides a relaxing time-pass while waiting, instead of feeling bored.</a:t>
            </a:r>
            <a:endParaRPr lang="en-GB" sz="3600" dirty="0">
              <a:solidFill>
                <a:srgbClr val="002060"/>
              </a:solidFill>
            </a:endParaRPr>
          </a:p>
        </p:txBody>
      </p:sp>
    </p:spTree>
    <p:extLst>
      <p:ext uri="{BB962C8B-B14F-4D97-AF65-F5344CB8AC3E}">
        <p14:creationId xmlns:p14="http://schemas.microsoft.com/office/powerpoint/2010/main" val="25899296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5 at 2.13.09 PM (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83667" y="1736035"/>
            <a:ext cx="3769591" cy="4754215"/>
          </a:xfrm>
          <a:prstGeom prst="rect">
            <a:avLst/>
          </a:prstGeom>
          <a:noFill/>
          <a:ln>
            <a:noFill/>
          </a:ln>
        </p:spPr>
      </p:pic>
      <p:pic>
        <p:nvPicPr>
          <p:cNvPr id="3" name="Picture 2" descr="WhatsApp Image 2026-10-05 at 2.13.09 PM (2)"/>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rot="16200000">
            <a:off x="7677213" y="2212222"/>
            <a:ext cx="4754214" cy="3801837"/>
          </a:xfrm>
          <a:prstGeom prst="rect">
            <a:avLst/>
          </a:prstGeom>
          <a:noFill/>
          <a:ln>
            <a:noFill/>
          </a:ln>
        </p:spPr>
      </p:pic>
      <p:sp>
        <p:nvSpPr>
          <p:cNvPr id="5" name="Rectangle 4"/>
          <p:cNvSpPr/>
          <p:nvPr/>
        </p:nvSpPr>
        <p:spPr>
          <a:xfrm>
            <a:off x="4056615" y="1736034"/>
            <a:ext cx="3987455" cy="4754215"/>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4" name="Rectangle 3"/>
          <p:cNvSpPr/>
          <p:nvPr/>
        </p:nvSpPr>
        <p:spPr>
          <a:xfrm>
            <a:off x="183667" y="163851"/>
            <a:ext cx="11771572" cy="400110"/>
          </a:xfrm>
          <a:prstGeom prst="rect">
            <a:avLst/>
          </a:prstGeom>
        </p:spPr>
        <p:txBody>
          <a:bodyPr wrap="square">
            <a:spAutoFit/>
          </a:bodyPr>
          <a:lstStyle/>
          <a:p>
            <a:pPr algn="ctr"/>
            <a:r>
              <a:rPr lang="en-GB" sz="2000" b="1" dirty="0" smtClean="0">
                <a:solidFill>
                  <a:srgbClr val="002060"/>
                </a:solidFill>
              </a:rPr>
              <a:t>FOUNTAIN RESTORATION - WORK IN PROGRESS Dismantling, Cleaning &amp; Systematic Re-arrangement of Stones</a:t>
            </a:r>
            <a:endParaRPr lang="en-GB" sz="2000" b="1" dirty="0">
              <a:solidFill>
                <a:srgbClr val="002060"/>
              </a:solidFill>
            </a:endParaRPr>
          </a:p>
        </p:txBody>
      </p:sp>
      <p:sp>
        <p:nvSpPr>
          <p:cNvPr id="7" name="Rectangle 6"/>
          <p:cNvSpPr/>
          <p:nvPr/>
        </p:nvSpPr>
        <p:spPr>
          <a:xfrm>
            <a:off x="4056615" y="1028147"/>
            <a:ext cx="3780511" cy="707886"/>
          </a:xfrm>
          <a:prstGeom prst="rect">
            <a:avLst/>
          </a:prstGeom>
        </p:spPr>
        <p:txBody>
          <a:bodyPr wrap="square">
            <a:spAutoFit/>
          </a:bodyPr>
          <a:lstStyle/>
          <a:p>
            <a:pPr algn="ctr"/>
            <a:r>
              <a:rPr lang="en-GB" sz="2000" b="1" dirty="0" smtClean="0">
                <a:solidFill>
                  <a:srgbClr val="002060"/>
                </a:solidFill>
              </a:rPr>
              <a:t>Removing All Dumped Stones from Fountain</a:t>
            </a:r>
            <a:endParaRPr lang="en-GB" sz="2000" b="1" dirty="0">
              <a:solidFill>
                <a:srgbClr val="002060"/>
              </a:solidFill>
            </a:endParaRPr>
          </a:p>
        </p:txBody>
      </p:sp>
      <p:sp>
        <p:nvSpPr>
          <p:cNvPr id="8" name="Rectangle 7"/>
          <p:cNvSpPr/>
          <p:nvPr/>
        </p:nvSpPr>
        <p:spPr>
          <a:xfrm>
            <a:off x="8174728" y="1028147"/>
            <a:ext cx="3780511" cy="707886"/>
          </a:xfrm>
          <a:prstGeom prst="rect">
            <a:avLst/>
          </a:prstGeom>
        </p:spPr>
        <p:txBody>
          <a:bodyPr wrap="square">
            <a:spAutoFit/>
          </a:bodyPr>
          <a:lstStyle/>
          <a:p>
            <a:pPr algn="ctr"/>
            <a:r>
              <a:rPr lang="en-GB" sz="2000" b="1" dirty="0" smtClean="0">
                <a:solidFill>
                  <a:srgbClr val="002060"/>
                </a:solidFill>
              </a:rPr>
              <a:t>Proper Setting for Water Flow System</a:t>
            </a:r>
            <a:endParaRPr lang="en-GB" sz="2000" b="1" dirty="0">
              <a:solidFill>
                <a:srgbClr val="002060"/>
              </a:solidFill>
            </a:endParaRPr>
          </a:p>
        </p:txBody>
      </p:sp>
      <p:sp>
        <p:nvSpPr>
          <p:cNvPr id="9" name="Rectangle 8"/>
          <p:cNvSpPr/>
          <p:nvPr/>
        </p:nvSpPr>
        <p:spPr>
          <a:xfrm>
            <a:off x="166773" y="1028147"/>
            <a:ext cx="3780511" cy="707886"/>
          </a:xfrm>
          <a:prstGeom prst="rect">
            <a:avLst/>
          </a:prstGeom>
        </p:spPr>
        <p:txBody>
          <a:bodyPr wrap="square">
            <a:spAutoFit/>
          </a:bodyPr>
          <a:lstStyle/>
          <a:p>
            <a:pPr algn="ctr"/>
            <a:r>
              <a:rPr lang="en-GB" sz="2000" b="1" dirty="0" smtClean="0">
                <a:solidFill>
                  <a:srgbClr val="002060"/>
                </a:solidFill>
              </a:rPr>
              <a:t>Cleaning &amp; Re-arranging Stones by Staff</a:t>
            </a:r>
            <a:endParaRPr lang="en-GB" sz="2000" b="1" dirty="0">
              <a:solidFill>
                <a:srgbClr val="002060"/>
              </a:solidFill>
            </a:endParaRPr>
          </a:p>
        </p:txBody>
      </p:sp>
      <p:sp>
        <p:nvSpPr>
          <p:cNvPr id="10" name="Footer Placeholder 9"/>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9433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hatsApp Image 2026-10-05 at 3.54.28 PM"/>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193812" y="1724853"/>
            <a:ext cx="11693388" cy="4530174"/>
          </a:xfrm>
          <a:prstGeom prst="rect">
            <a:avLst/>
          </a:prstGeom>
          <a:noFill/>
          <a:ln>
            <a:noFill/>
          </a:ln>
        </p:spPr>
      </p:pic>
      <p:sp>
        <p:nvSpPr>
          <p:cNvPr id="5" name="Footer Placeholder 4"/>
          <p:cNvSpPr>
            <a:spLocks noGrp="1"/>
          </p:cNvSpPr>
          <p:nvPr>
            <p:ph type="ftr" sz="quarter" idx="11"/>
          </p:nvPr>
        </p:nvSpPr>
        <p:spPr/>
        <p:txBody>
          <a:bodyPr/>
          <a:lstStyle/>
          <a:p>
            <a:endParaRPr lang="en-GB"/>
          </a:p>
        </p:txBody>
      </p:sp>
      <p:sp>
        <p:nvSpPr>
          <p:cNvPr id="3" name="Rectangle 2"/>
          <p:cNvSpPr/>
          <p:nvPr/>
        </p:nvSpPr>
        <p:spPr>
          <a:xfrm>
            <a:off x="193812" y="269870"/>
            <a:ext cx="11693388" cy="1077218"/>
          </a:xfrm>
          <a:prstGeom prst="rect">
            <a:avLst/>
          </a:prstGeom>
        </p:spPr>
        <p:txBody>
          <a:bodyPr wrap="square">
            <a:spAutoFit/>
          </a:bodyPr>
          <a:lstStyle/>
          <a:p>
            <a:pPr algn="ctr"/>
            <a:r>
              <a:rPr lang="en-GB" sz="3200" b="1" dirty="0" smtClean="0">
                <a:solidFill>
                  <a:srgbClr val="002060"/>
                </a:solidFill>
              </a:rPr>
              <a:t>TEAMWORK BRINGS FOUNTAIN BACK TO LIFE Enthusiastic Efforts + Creative Support = Beautiful Result</a:t>
            </a:r>
            <a:endParaRPr lang="en-GB" sz="3200" b="1" dirty="0">
              <a:solidFill>
                <a:srgbClr val="002060"/>
              </a:solidFill>
            </a:endParaRPr>
          </a:p>
        </p:txBody>
      </p:sp>
    </p:spTree>
    <p:extLst>
      <p:ext uri="{BB962C8B-B14F-4D97-AF65-F5344CB8AC3E}">
        <p14:creationId xmlns:p14="http://schemas.microsoft.com/office/powerpoint/2010/main" val="35827250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0087" y="556591"/>
            <a:ext cx="11661913" cy="5262979"/>
          </a:xfrm>
          <a:prstGeom prst="rect">
            <a:avLst/>
          </a:prstGeom>
        </p:spPr>
        <p:txBody>
          <a:bodyPr wrap="square">
            <a:spAutoFit/>
          </a:bodyPr>
          <a:lstStyle/>
          <a:p>
            <a:r>
              <a:rPr lang="en-GB" sz="2400" b="1" dirty="0">
                <a:solidFill>
                  <a:srgbClr val="002060"/>
                </a:solidFill>
              </a:rPr>
              <a:t>Inspiration in Action:</a:t>
            </a:r>
          </a:p>
          <a:p>
            <a:r>
              <a:rPr lang="en-GB" sz="2400" dirty="0">
                <a:solidFill>
                  <a:srgbClr val="002060"/>
                </a:solidFill>
              </a:rPr>
              <a:t>Seeing the enthusiasm of our Security &amp; Housekeeping team in restoring the fountain, our Electrical Head, </a:t>
            </a:r>
            <a:r>
              <a:rPr lang="en-GB" sz="2400" dirty="0" err="1">
                <a:solidFill>
                  <a:srgbClr val="002060"/>
                </a:solidFill>
              </a:rPr>
              <a:t>Mr.</a:t>
            </a:r>
            <a:r>
              <a:rPr lang="en-GB" sz="2400" dirty="0">
                <a:solidFill>
                  <a:srgbClr val="002060"/>
                </a:solidFill>
              </a:rPr>
              <a:t> </a:t>
            </a:r>
            <a:r>
              <a:rPr lang="en-GB" sz="2400" dirty="0" err="1">
                <a:solidFill>
                  <a:srgbClr val="002060"/>
                </a:solidFill>
              </a:rPr>
              <a:t>Basavaraj</a:t>
            </a:r>
            <a:r>
              <a:rPr lang="en-GB" sz="2400" dirty="0">
                <a:solidFill>
                  <a:srgbClr val="002060"/>
                </a:solidFill>
              </a:rPr>
              <a:t> </a:t>
            </a:r>
            <a:r>
              <a:rPr lang="en-GB" sz="2400" dirty="0" err="1">
                <a:solidFill>
                  <a:srgbClr val="002060"/>
                </a:solidFill>
              </a:rPr>
              <a:t>Ganamuki</a:t>
            </a:r>
            <a:r>
              <a:rPr lang="en-GB" sz="2400" dirty="0">
                <a:solidFill>
                  <a:srgbClr val="002060"/>
                </a:solidFill>
              </a:rPr>
              <a:t>, came forward voluntarily.</a:t>
            </a:r>
          </a:p>
          <a:p>
            <a:endParaRPr lang="en-GB" sz="2400" dirty="0">
              <a:solidFill>
                <a:srgbClr val="002060"/>
              </a:solidFill>
            </a:endParaRPr>
          </a:p>
          <a:p>
            <a:r>
              <a:rPr lang="en-GB" sz="2400" dirty="0">
                <a:solidFill>
                  <a:srgbClr val="002060"/>
                </a:solidFill>
              </a:rPr>
              <a:t>He engaged a wall painter and got the back wall beautifully painted with Buddha &amp; Nature art, featuring the message "</a:t>
            </a:r>
            <a:r>
              <a:rPr lang="en-GB" sz="2400" dirty="0" err="1">
                <a:solidFill>
                  <a:srgbClr val="002060"/>
                </a:solidFill>
              </a:rPr>
              <a:t>Dharmo</a:t>
            </a:r>
            <a:r>
              <a:rPr lang="en-GB" sz="2400" dirty="0">
                <a:solidFill>
                  <a:srgbClr val="002060"/>
                </a:solidFill>
              </a:rPr>
              <a:t> </a:t>
            </a:r>
            <a:r>
              <a:rPr lang="en-GB" sz="2400" dirty="0" err="1">
                <a:solidFill>
                  <a:srgbClr val="002060"/>
                </a:solidFill>
              </a:rPr>
              <a:t>Rakshati</a:t>
            </a:r>
            <a:r>
              <a:rPr lang="en-GB" sz="2400" dirty="0">
                <a:solidFill>
                  <a:srgbClr val="002060"/>
                </a:solidFill>
              </a:rPr>
              <a:t> </a:t>
            </a:r>
            <a:r>
              <a:rPr lang="en-GB" sz="2400" dirty="0" err="1">
                <a:solidFill>
                  <a:srgbClr val="002060"/>
                </a:solidFill>
              </a:rPr>
              <a:t>Rakshitah</a:t>
            </a:r>
            <a:r>
              <a:rPr lang="en-GB" sz="2400" dirty="0">
                <a:solidFill>
                  <a:srgbClr val="002060"/>
                </a:solidFill>
              </a:rPr>
              <a:t> - </a:t>
            </a:r>
            <a:r>
              <a:rPr lang="en-GB" sz="2400" dirty="0" err="1">
                <a:solidFill>
                  <a:srgbClr val="002060"/>
                </a:solidFill>
              </a:rPr>
              <a:t>Kayakave</a:t>
            </a:r>
            <a:r>
              <a:rPr lang="en-GB" sz="2400" dirty="0">
                <a:solidFill>
                  <a:srgbClr val="002060"/>
                </a:solidFill>
              </a:rPr>
              <a:t> </a:t>
            </a:r>
            <a:r>
              <a:rPr lang="en-GB" sz="2400" dirty="0" err="1">
                <a:solidFill>
                  <a:srgbClr val="002060"/>
                </a:solidFill>
              </a:rPr>
              <a:t>Kailasa</a:t>
            </a:r>
            <a:r>
              <a:rPr lang="en-GB" sz="2400" dirty="0">
                <a:solidFill>
                  <a:srgbClr val="002060"/>
                </a:solidFill>
              </a:rPr>
              <a:t>" (Work is Worship).</a:t>
            </a:r>
          </a:p>
          <a:p>
            <a:endParaRPr lang="en-GB" sz="2400" dirty="0">
              <a:solidFill>
                <a:srgbClr val="002060"/>
              </a:solidFill>
            </a:endParaRPr>
          </a:p>
          <a:p>
            <a:r>
              <a:rPr lang="en-GB" sz="2400" dirty="0">
                <a:solidFill>
                  <a:srgbClr val="002060"/>
                </a:solidFill>
              </a:rPr>
              <a:t>Systematically arranged all fountain stones and successfully re-started the fountain.</a:t>
            </a:r>
          </a:p>
          <a:p>
            <a:endParaRPr lang="en-GB" sz="2400" dirty="0">
              <a:solidFill>
                <a:srgbClr val="002060"/>
              </a:solidFill>
            </a:endParaRPr>
          </a:p>
          <a:p>
            <a:r>
              <a:rPr lang="en-GB" sz="2400" dirty="0">
                <a:solidFill>
                  <a:srgbClr val="002060"/>
                </a:solidFill>
              </a:rPr>
              <a:t>Result:</a:t>
            </a:r>
          </a:p>
          <a:p>
            <a:r>
              <a:rPr lang="en-GB" sz="2400" dirty="0">
                <a:solidFill>
                  <a:srgbClr val="002060"/>
                </a:solidFill>
              </a:rPr>
              <a:t>A perfect example of Teamwork and Ownership at </a:t>
            </a:r>
            <a:r>
              <a:rPr lang="en-GB" sz="2400" dirty="0" err="1">
                <a:solidFill>
                  <a:srgbClr val="002060"/>
                </a:solidFill>
              </a:rPr>
              <a:t>Hubli</a:t>
            </a:r>
            <a:r>
              <a:rPr lang="en-GB" sz="2400" dirty="0">
                <a:solidFill>
                  <a:srgbClr val="002060"/>
                </a:solidFill>
              </a:rPr>
              <a:t> IT Park.</a:t>
            </a:r>
          </a:p>
          <a:p>
            <a:endParaRPr lang="en-GB" sz="2400" dirty="0">
              <a:solidFill>
                <a:srgbClr val="002060"/>
              </a:solidFill>
            </a:endParaRPr>
          </a:p>
          <a:p>
            <a:r>
              <a:rPr lang="en-GB" sz="2400" b="1" dirty="0">
                <a:solidFill>
                  <a:srgbClr val="002060"/>
                </a:solidFill>
              </a:rPr>
              <a:t>From Waste to Wonder - A Joint Effort of Security, Housekeeping &amp; Electrical Team</a:t>
            </a:r>
            <a:endParaRPr lang="en-GB" sz="2400" b="1" dirty="0">
              <a:solidFill>
                <a:srgbClr val="002060"/>
              </a:solidFill>
            </a:endParaRPr>
          </a:p>
        </p:txBody>
      </p:sp>
      <p:sp>
        <p:nvSpPr>
          <p:cNvPr id="4" name="Footer Placeholder 3"/>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1259209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60619" y="1232452"/>
            <a:ext cx="2572172" cy="5123898"/>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3175" y="1232452"/>
            <a:ext cx="2573424" cy="5123898"/>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6271" y="1232452"/>
            <a:ext cx="2573424" cy="512389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4967" y="1232452"/>
            <a:ext cx="2572172" cy="5123898"/>
          </a:xfrm>
          <a:prstGeom prst="rect">
            <a:avLst/>
          </a:prstGeom>
        </p:spPr>
      </p:pic>
      <p:sp>
        <p:nvSpPr>
          <p:cNvPr id="7" name="TextBox 6"/>
          <p:cNvSpPr txBox="1"/>
          <p:nvPr/>
        </p:nvSpPr>
        <p:spPr>
          <a:xfrm>
            <a:off x="201834" y="397565"/>
            <a:ext cx="11661913" cy="584775"/>
          </a:xfrm>
          <a:prstGeom prst="rect">
            <a:avLst/>
          </a:prstGeom>
          <a:noFill/>
        </p:spPr>
        <p:txBody>
          <a:bodyPr wrap="square" rtlCol="0">
            <a:spAutoFit/>
          </a:bodyPr>
          <a:lstStyle/>
          <a:p>
            <a:pPr algn="ctr"/>
            <a:r>
              <a:rPr lang="en-GB" sz="3200" b="1" dirty="0">
                <a:solidFill>
                  <a:schemeClr val="accent5">
                    <a:lumMod val="50000"/>
                  </a:schemeClr>
                </a:solidFill>
              </a:rPr>
              <a:t>From Waste to Wonder: Artistic Transformation of Fountain Wall</a:t>
            </a:r>
          </a:p>
        </p:txBody>
      </p:sp>
    </p:spTree>
    <p:extLst>
      <p:ext uri="{BB962C8B-B14F-4D97-AF65-F5344CB8AC3E}">
        <p14:creationId xmlns:p14="http://schemas.microsoft.com/office/powerpoint/2010/main" val="2271102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4 at 10.06.35 PM"/>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599661" y="2478158"/>
            <a:ext cx="5308324" cy="3763616"/>
          </a:xfrm>
          <a:prstGeom prst="rect">
            <a:avLst/>
          </a:prstGeom>
          <a:noFill/>
          <a:ln>
            <a:noFill/>
          </a:ln>
        </p:spPr>
      </p:pic>
      <p:pic>
        <p:nvPicPr>
          <p:cNvPr id="3" name="Picture 2" descr="WhatsApp Image 2026-10-04 at 10.06.49 PM"/>
          <p:cNvPicPr>
            <a:picLocks noGrp="1" noChangeAspect="1"/>
          </p:cNvPicPr>
          <p:nvPr isPhoto="1"/>
        </p:nvPicPr>
        <p:blipFill>
          <a:blip r:embed="rId3" cstate="print">
            <a:lum/>
            <a:extLst>
              <a:ext uri="{28A0092B-C50C-407E-A947-70E740481C1C}">
                <a14:useLocalDpi xmlns:a14="http://schemas.microsoft.com/office/drawing/2010/main" val="0"/>
              </a:ext>
            </a:extLst>
          </a:blip>
          <a:stretch>
            <a:fillRect/>
          </a:stretch>
        </p:blipFill>
        <p:spPr>
          <a:xfrm>
            <a:off x="6467061" y="2478158"/>
            <a:ext cx="5308324" cy="3763616"/>
          </a:xfrm>
          <a:prstGeom prst="rect">
            <a:avLst/>
          </a:prstGeom>
          <a:noFill/>
          <a:ln>
            <a:noFill/>
          </a:ln>
        </p:spPr>
      </p:pic>
      <p:sp>
        <p:nvSpPr>
          <p:cNvPr id="4" name="Footer Placeholder 3"/>
          <p:cNvSpPr>
            <a:spLocks noGrp="1"/>
          </p:cNvSpPr>
          <p:nvPr>
            <p:ph type="ftr" sz="quarter" idx="11"/>
          </p:nvPr>
        </p:nvSpPr>
        <p:spPr/>
        <p:txBody>
          <a:bodyPr/>
          <a:lstStyle/>
          <a:p>
            <a:endParaRPr lang="en-GB"/>
          </a:p>
        </p:txBody>
      </p:sp>
      <p:sp>
        <p:nvSpPr>
          <p:cNvPr id="5" name="Rectangle 4"/>
          <p:cNvSpPr/>
          <p:nvPr/>
        </p:nvSpPr>
        <p:spPr>
          <a:xfrm>
            <a:off x="208307" y="467353"/>
            <a:ext cx="11775385" cy="1569660"/>
          </a:xfrm>
          <a:prstGeom prst="rect">
            <a:avLst/>
          </a:prstGeom>
        </p:spPr>
        <p:txBody>
          <a:bodyPr wrap="square">
            <a:spAutoFit/>
          </a:bodyPr>
          <a:lstStyle/>
          <a:p>
            <a:pPr algn="just"/>
            <a:r>
              <a:rPr lang="en-GB" sz="2400" b="1" dirty="0" smtClean="0">
                <a:solidFill>
                  <a:srgbClr val="002060"/>
                </a:solidFill>
              </a:rPr>
              <a:t>Own Team, Own Work: No external labour called. Our Security staff themselves took initiative, brought paint and beautifully painted the entire fountain structure in blue and brick red combination. This shows their dedication and ownership towards </a:t>
            </a:r>
            <a:r>
              <a:rPr lang="en-GB" sz="2400" b="1" dirty="0" err="1" smtClean="0">
                <a:solidFill>
                  <a:srgbClr val="002060"/>
                </a:solidFill>
              </a:rPr>
              <a:t>Hubli</a:t>
            </a:r>
            <a:r>
              <a:rPr lang="en-GB" sz="2400" b="1" dirty="0" smtClean="0">
                <a:solidFill>
                  <a:srgbClr val="002060"/>
                </a:solidFill>
              </a:rPr>
              <a:t> IT Park beautification. Cost Saving + Best Result.</a:t>
            </a:r>
            <a:endParaRPr lang="en-GB" sz="2400" b="1" dirty="0">
              <a:solidFill>
                <a:srgbClr val="002060"/>
              </a:solidFill>
            </a:endParaRPr>
          </a:p>
        </p:txBody>
      </p:sp>
    </p:spTree>
    <p:extLst>
      <p:ext uri="{BB962C8B-B14F-4D97-AF65-F5344CB8AC3E}">
        <p14:creationId xmlns:p14="http://schemas.microsoft.com/office/powerpoint/2010/main" val="4043433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5 at 3.53.45 PM"/>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276639" y="1897131"/>
            <a:ext cx="5638800" cy="4216677"/>
          </a:xfrm>
          <a:prstGeom prst="rect">
            <a:avLst/>
          </a:prstGeom>
          <a:noFill/>
          <a:ln>
            <a:noFill/>
          </a:ln>
        </p:spPr>
      </p:pic>
      <p:sp>
        <p:nvSpPr>
          <p:cNvPr id="4" name="Footer Placeholder 3"/>
          <p:cNvSpPr>
            <a:spLocks noGrp="1"/>
          </p:cNvSpPr>
          <p:nvPr>
            <p:ph type="ftr" sz="quarter" idx="11"/>
          </p:nvPr>
        </p:nvSpPr>
        <p:spPr/>
        <p:txBody>
          <a:bodyPr/>
          <a:lstStyle/>
          <a:p>
            <a:endParaRPr lang="en-GB"/>
          </a:p>
        </p:txBody>
      </p:sp>
      <p:sp>
        <p:nvSpPr>
          <p:cNvPr id="5" name="Rectangle 4"/>
          <p:cNvSpPr/>
          <p:nvPr/>
        </p:nvSpPr>
        <p:spPr>
          <a:xfrm>
            <a:off x="204580" y="185530"/>
            <a:ext cx="11782839" cy="1077218"/>
          </a:xfrm>
          <a:prstGeom prst="rect">
            <a:avLst/>
          </a:prstGeom>
        </p:spPr>
        <p:txBody>
          <a:bodyPr wrap="square">
            <a:spAutoFit/>
          </a:bodyPr>
          <a:lstStyle/>
          <a:p>
            <a:pPr algn="ctr"/>
            <a:r>
              <a:rPr lang="en-GB" sz="3200" b="1" dirty="0" smtClean="0">
                <a:solidFill>
                  <a:srgbClr val="002060"/>
                </a:solidFill>
              </a:rPr>
              <a:t>FINAL TOUCH - CREATIVE DECORATION Painting Small Pots &amp; Items for Fountain Beautification</a:t>
            </a:r>
            <a:endParaRPr lang="en-GB" sz="3200" b="1" dirty="0">
              <a:solidFill>
                <a:srgbClr val="002060"/>
              </a:solidFill>
            </a:endParaRPr>
          </a:p>
        </p:txBody>
      </p:sp>
      <p:sp>
        <p:nvSpPr>
          <p:cNvPr id="6" name="Rectangle 5"/>
          <p:cNvSpPr/>
          <p:nvPr/>
        </p:nvSpPr>
        <p:spPr>
          <a:xfrm>
            <a:off x="0" y="1189245"/>
            <a:ext cx="5076411" cy="707886"/>
          </a:xfrm>
          <a:prstGeom prst="rect">
            <a:avLst/>
          </a:prstGeom>
        </p:spPr>
        <p:txBody>
          <a:bodyPr wrap="square">
            <a:spAutoFit/>
          </a:bodyPr>
          <a:lstStyle/>
          <a:p>
            <a:pPr algn="ctr"/>
            <a:r>
              <a:rPr lang="en-GB" sz="2000" b="1" dirty="0" smtClean="0">
                <a:solidFill>
                  <a:srgbClr val="002060"/>
                </a:solidFill>
              </a:rPr>
              <a:t>Preparation: Security Team Painting Decorative Pots in Tricolour Theme</a:t>
            </a:r>
            <a:endParaRPr lang="en-GB" sz="2000" b="1" dirty="0">
              <a:solidFill>
                <a:srgbClr val="002060"/>
              </a:solidFill>
            </a:endParaRPr>
          </a:p>
        </p:txBody>
      </p:sp>
      <p:sp>
        <p:nvSpPr>
          <p:cNvPr id="7" name="Rectangle 6"/>
          <p:cNvSpPr/>
          <p:nvPr/>
        </p:nvSpPr>
        <p:spPr>
          <a:xfrm>
            <a:off x="6266207" y="1189245"/>
            <a:ext cx="5076411" cy="707886"/>
          </a:xfrm>
          <a:prstGeom prst="rect">
            <a:avLst/>
          </a:prstGeom>
        </p:spPr>
        <p:txBody>
          <a:bodyPr wrap="square">
            <a:spAutoFit/>
          </a:bodyPr>
          <a:lstStyle/>
          <a:p>
            <a:pPr algn="ctr"/>
            <a:r>
              <a:rPr lang="en-GB" sz="2000" b="1" dirty="0" smtClean="0">
                <a:solidFill>
                  <a:srgbClr val="002060"/>
                </a:solidFill>
              </a:rPr>
              <a:t>Final Setup: Beautifully Decorated Fountain with Tricolour &amp; Greenery</a:t>
            </a:r>
            <a:endParaRPr lang="en-GB" sz="2000" b="1" dirty="0">
              <a:solidFill>
                <a:srgbClr val="002060"/>
              </a:solidFill>
            </a:endParaRPr>
          </a:p>
        </p:txBody>
      </p:sp>
      <p:pic>
        <p:nvPicPr>
          <p:cNvPr id="8" name="Picture 7" descr="WhatsApp Image 2026-10-05 at 3.52.10 PM"/>
          <p:cNvPicPr>
            <a:picLocks noGrp="1" noChangeAspect="1"/>
          </p:cNvPicPr>
          <p:nvPr isPhoto="1"/>
        </p:nvPicPr>
        <p:blipFill>
          <a:blip r:embed="rId3" cstate="print">
            <a:lum/>
            <a:extLst>
              <a:ext uri="{28A0092B-C50C-407E-A947-70E740481C1C}">
                <a14:useLocalDpi xmlns:a14="http://schemas.microsoft.com/office/drawing/2010/main" val="0"/>
              </a:ext>
            </a:extLst>
          </a:blip>
          <a:stretch>
            <a:fillRect/>
          </a:stretch>
        </p:blipFill>
        <p:spPr>
          <a:xfrm>
            <a:off x="6262480" y="1897131"/>
            <a:ext cx="5724939" cy="4216677"/>
          </a:xfrm>
          <a:prstGeom prst="rect">
            <a:avLst/>
          </a:prstGeom>
          <a:noFill/>
          <a:ln>
            <a:noFill/>
          </a:ln>
        </p:spPr>
      </p:pic>
    </p:spTree>
    <p:extLst>
      <p:ext uri="{BB962C8B-B14F-4D97-AF65-F5344CB8AC3E}">
        <p14:creationId xmlns:p14="http://schemas.microsoft.com/office/powerpoint/2010/main" val="2011123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6-10-05 at 2.23.39 PM"/>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rot="16200000">
            <a:off x="6705605" y="1205948"/>
            <a:ext cx="4863547" cy="5738189"/>
          </a:xfrm>
          <a:prstGeom prst="rect">
            <a:avLst/>
          </a:prstGeom>
          <a:noFill/>
          <a:ln>
            <a:noFill/>
          </a:ln>
        </p:spPr>
      </p:pic>
      <p:pic>
        <p:nvPicPr>
          <p:cNvPr id="4" name="Picture 3" descr="WhatsApp Image 2026-10-05 at 3.52.10 PM"/>
          <p:cNvPicPr>
            <a:picLocks noGrp="1" noChangeAspect="1"/>
          </p:cNvPicPr>
          <p:nvPr isPhoto="1"/>
        </p:nvPicPr>
        <p:blipFill>
          <a:blip r:embed="rId3" cstate="print">
            <a:lum/>
            <a:extLst>
              <a:ext uri="{28A0092B-C50C-407E-A947-70E740481C1C}">
                <a14:useLocalDpi xmlns:a14="http://schemas.microsoft.com/office/drawing/2010/main" val="0"/>
              </a:ext>
            </a:extLst>
          </a:blip>
          <a:stretch>
            <a:fillRect/>
          </a:stretch>
        </p:blipFill>
        <p:spPr>
          <a:xfrm>
            <a:off x="132521" y="1643271"/>
            <a:ext cx="5724939" cy="4863546"/>
          </a:xfrm>
          <a:prstGeom prst="rect">
            <a:avLst/>
          </a:prstGeom>
          <a:noFill/>
          <a:ln>
            <a:noFill/>
          </a:ln>
        </p:spPr>
      </p:pic>
      <p:sp>
        <p:nvSpPr>
          <p:cNvPr id="5" name="Footer Placeholder 4"/>
          <p:cNvSpPr>
            <a:spLocks noGrp="1"/>
          </p:cNvSpPr>
          <p:nvPr>
            <p:ph type="ftr" sz="quarter" idx="11"/>
          </p:nvPr>
        </p:nvSpPr>
        <p:spPr/>
        <p:txBody>
          <a:bodyPr/>
          <a:lstStyle/>
          <a:p>
            <a:endParaRPr lang="en-GB"/>
          </a:p>
        </p:txBody>
      </p:sp>
      <p:sp>
        <p:nvSpPr>
          <p:cNvPr id="6" name="Rectangle 5"/>
          <p:cNvSpPr/>
          <p:nvPr/>
        </p:nvSpPr>
        <p:spPr>
          <a:xfrm>
            <a:off x="-1" y="97591"/>
            <a:ext cx="12006473" cy="830997"/>
          </a:xfrm>
          <a:prstGeom prst="rect">
            <a:avLst/>
          </a:prstGeom>
        </p:spPr>
        <p:txBody>
          <a:bodyPr wrap="square">
            <a:spAutoFit/>
          </a:bodyPr>
          <a:lstStyle/>
          <a:p>
            <a:pPr algn="ctr"/>
            <a:r>
              <a:rPr lang="en-GB" sz="2400" b="1" dirty="0" smtClean="0">
                <a:solidFill>
                  <a:srgbClr val="002060"/>
                </a:solidFill>
              </a:rPr>
              <a:t>SECURITY TEAM'S ARTISTIC TOUCH </a:t>
            </a:r>
          </a:p>
          <a:p>
            <a:pPr algn="ctr"/>
            <a:r>
              <a:rPr lang="en-GB" sz="2400" b="1" dirty="0" smtClean="0">
                <a:solidFill>
                  <a:srgbClr val="002060"/>
                </a:solidFill>
              </a:rPr>
              <a:t>Fountain Painting Done by Our Security Staff</a:t>
            </a:r>
            <a:endParaRPr lang="en-GB" sz="2400" b="1" dirty="0">
              <a:solidFill>
                <a:srgbClr val="002060"/>
              </a:solidFill>
            </a:endParaRPr>
          </a:p>
        </p:txBody>
      </p:sp>
      <p:sp>
        <p:nvSpPr>
          <p:cNvPr id="7" name="Rectangle 6"/>
          <p:cNvSpPr/>
          <p:nvPr/>
        </p:nvSpPr>
        <p:spPr>
          <a:xfrm>
            <a:off x="0" y="812271"/>
            <a:ext cx="5724939" cy="830997"/>
          </a:xfrm>
          <a:prstGeom prst="rect">
            <a:avLst/>
          </a:prstGeom>
        </p:spPr>
        <p:txBody>
          <a:bodyPr wrap="square">
            <a:spAutoFit/>
          </a:bodyPr>
          <a:lstStyle/>
          <a:p>
            <a:pPr algn="ctr"/>
            <a:r>
              <a:rPr lang="en-GB" sz="2400" b="1" dirty="0" smtClean="0">
                <a:solidFill>
                  <a:srgbClr val="002060"/>
                </a:solidFill>
              </a:rPr>
              <a:t>BEFORE: Unpainted Structure - Dull Appearance</a:t>
            </a:r>
            <a:endParaRPr lang="en-GB" sz="2400" b="1" dirty="0">
              <a:solidFill>
                <a:srgbClr val="002060"/>
              </a:solidFill>
            </a:endParaRPr>
          </a:p>
        </p:txBody>
      </p:sp>
      <p:sp>
        <p:nvSpPr>
          <p:cNvPr id="8" name="Rectangle 7"/>
          <p:cNvSpPr/>
          <p:nvPr/>
        </p:nvSpPr>
        <p:spPr>
          <a:xfrm>
            <a:off x="6268284" y="812271"/>
            <a:ext cx="5724939" cy="830997"/>
          </a:xfrm>
          <a:prstGeom prst="rect">
            <a:avLst/>
          </a:prstGeom>
        </p:spPr>
        <p:txBody>
          <a:bodyPr wrap="square">
            <a:spAutoFit/>
          </a:bodyPr>
          <a:lstStyle/>
          <a:p>
            <a:pPr algn="ctr"/>
            <a:r>
              <a:rPr lang="en-GB" sz="2400" b="1" dirty="0" smtClean="0">
                <a:solidFill>
                  <a:srgbClr val="002060"/>
                </a:solidFill>
              </a:rPr>
              <a:t>AFTER: Painted by Security Team - Blue Theme with Brick Finish</a:t>
            </a:r>
            <a:endParaRPr lang="en-GB" sz="2400" b="1" dirty="0">
              <a:solidFill>
                <a:srgbClr val="002060"/>
              </a:solidFill>
            </a:endParaRPr>
          </a:p>
        </p:txBody>
      </p:sp>
    </p:spTree>
    <p:extLst>
      <p:ext uri="{BB962C8B-B14F-4D97-AF65-F5344CB8AC3E}">
        <p14:creationId xmlns:p14="http://schemas.microsoft.com/office/powerpoint/2010/main" val="2459545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4 at 11.14.05 PM (1)"/>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331306" y="1537252"/>
            <a:ext cx="5473146" cy="4704521"/>
          </a:xfrm>
          <a:prstGeom prst="rect">
            <a:avLst/>
          </a:prstGeom>
          <a:noFill/>
          <a:ln>
            <a:noFill/>
          </a:ln>
        </p:spPr>
      </p:pic>
      <p:pic>
        <p:nvPicPr>
          <p:cNvPr id="3" name="Picture 2" descr="WhatsApp Image 2026-10-04 at 11.14.05 PM (2)"/>
          <p:cNvPicPr>
            <a:picLocks noGrp="1" noChangeAspect="1"/>
          </p:cNvPicPr>
          <p:nvPr isPhoto="1"/>
        </p:nvPicPr>
        <p:blipFill>
          <a:blip r:embed="rId3" cstate="print">
            <a:lum/>
            <a:extLst>
              <a:ext uri="{28A0092B-C50C-407E-A947-70E740481C1C}">
                <a14:useLocalDpi xmlns:a14="http://schemas.microsoft.com/office/drawing/2010/main" val="0"/>
              </a:ext>
            </a:extLst>
          </a:blip>
          <a:stretch>
            <a:fillRect/>
          </a:stretch>
        </p:blipFill>
        <p:spPr>
          <a:xfrm>
            <a:off x="6308035" y="1537252"/>
            <a:ext cx="5638800" cy="4704521"/>
          </a:xfrm>
          <a:prstGeom prst="rect">
            <a:avLst/>
          </a:prstGeom>
          <a:noFill/>
          <a:ln>
            <a:noFill/>
          </a:ln>
        </p:spPr>
      </p:pic>
      <p:sp>
        <p:nvSpPr>
          <p:cNvPr id="4" name="Footer Placeholder 3"/>
          <p:cNvSpPr>
            <a:spLocks noGrp="1"/>
          </p:cNvSpPr>
          <p:nvPr>
            <p:ph type="ftr" sz="quarter" idx="11"/>
          </p:nvPr>
        </p:nvSpPr>
        <p:spPr/>
        <p:txBody>
          <a:bodyPr/>
          <a:lstStyle/>
          <a:p>
            <a:endParaRPr lang="en-GB"/>
          </a:p>
        </p:txBody>
      </p:sp>
      <p:sp>
        <p:nvSpPr>
          <p:cNvPr id="5" name="Rectangle 4"/>
          <p:cNvSpPr/>
          <p:nvPr/>
        </p:nvSpPr>
        <p:spPr>
          <a:xfrm>
            <a:off x="212035" y="124096"/>
            <a:ext cx="11734800" cy="830997"/>
          </a:xfrm>
          <a:prstGeom prst="rect">
            <a:avLst/>
          </a:prstGeom>
        </p:spPr>
        <p:txBody>
          <a:bodyPr wrap="square">
            <a:spAutoFit/>
          </a:bodyPr>
          <a:lstStyle/>
          <a:p>
            <a:pPr algn="ctr"/>
            <a:r>
              <a:rPr lang="en-GB" sz="2400" b="1" dirty="0" smtClean="0">
                <a:solidFill>
                  <a:srgbClr val="002060"/>
                </a:solidFill>
              </a:rPr>
              <a:t>DIVINE TOUCH TO THE FOUNTAIN </a:t>
            </a:r>
          </a:p>
          <a:p>
            <a:pPr algn="ctr"/>
            <a:r>
              <a:rPr lang="en-GB" sz="2400" b="1" dirty="0" smtClean="0">
                <a:solidFill>
                  <a:srgbClr val="002060"/>
                </a:solidFill>
              </a:rPr>
              <a:t>Blessed with Buddha Statue by Manager Shri Vijay </a:t>
            </a:r>
            <a:r>
              <a:rPr lang="en-GB" sz="2400" b="1" dirty="0" err="1" smtClean="0">
                <a:solidFill>
                  <a:srgbClr val="002060"/>
                </a:solidFill>
              </a:rPr>
              <a:t>Dev</a:t>
            </a:r>
            <a:r>
              <a:rPr lang="en-GB" sz="2400" b="1" dirty="0" smtClean="0">
                <a:solidFill>
                  <a:srgbClr val="002060"/>
                </a:solidFill>
              </a:rPr>
              <a:t> Sir</a:t>
            </a:r>
            <a:endParaRPr lang="en-GB" sz="2400" b="1" dirty="0">
              <a:solidFill>
                <a:srgbClr val="002060"/>
              </a:solidFill>
            </a:endParaRPr>
          </a:p>
        </p:txBody>
      </p:sp>
      <p:sp>
        <p:nvSpPr>
          <p:cNvPr id="6" name="Rectangle 5"/>
          <p:cNvSpPr/>
          <p:nvPr/>
        </p:nvSpPr>
        <p:spPr>
          <a:xfrm>
            <a:off x="212035" y="955093"/>
            <a:ext cx="11734800" cy="461665"/>
          </a:xfrm>
          <a:prstGeom prst="rect">
            <a:avLst/>
          </a:prstGeom>
        </p:spPr>
        <p:txBody>
          <a:bodyPr wrap="square">
            <a:spAutoFit/>
          </a:bodyPr>
          <a:lstStyle/>
          <a:p>
            <a:pPr algn="ctr"/>
            <a:r>
              <a:rPr lang="en-GB" sz="2400" b="1" dirty="0" smtClean="0">
                <a:solidFill>
                  <a:srgbClr val="002060"/>
                </a:solidFill>
              </a:rPr>
              <a:t>Security Team Installing Buddha Statue &amp; Decorating the Fountain with Devotion</a:t>
            </a:r>
            <a:endParaRPr lang="en-GB" sz="2400" b="1" dirty="0">
              <a:solidFill>
                <a:srgbClr val="002060"/>
              </a:solidFill>
            </a:endParaRPr>
          </a:p>
        </p:txBody>
      </p:sp>
    </p:spTree>
    <p:extLst>
      <p:ext uri="{BB962C8B-B14F-4D97-AF65-F5344CB8AC3E}">
        <p14:creationId xmlns:p14="http://schemas.microsoft.com/office/powerpoint/2010/main" val="39631336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sp>
        <p:nvSpPr>
          <p:cNvPr id="3" name="Rectangle 2"/>
          <p:cNvSpPr/>
          <p:nvPr/>
        </p:nvSpPr>
        <p:spPr>
          <a:xfrm>
            <a:off x="265042" y="490332"/>
            <a:ext cx="11436627" cy="5693866"/>
          </a:xfrm>
          <a:prstGeom prst="rect">
            <a:avLst/>
          </a:prstGeom>
        </p:spPr>
        <p:txBody>
          <a:bodyPr wrap="square">
            <a:spAutoFit/>
          </a:bodyPr>
          <a:lstStyle/>
          <a:p>
            <a:r>
              <a:rPr lang="en-GB" sz="2800" b="1" dirty="0" smtClean="0">
                <a:solidFill>
                  <a:srgbClr val="002060"/>
                </a:solidFill>
              </a:rPr>
              <a:t>Appreciation &amp; Motivation: </a:t>
            </a:r>
          </a:p>
          <a:p>
            <a:pPr algn="just"/>
            <a:r>
              <a:rPr lang="en-GB" sz="2800" dirty="0" smtClean="0">
                <a:solidFill>
                  <a:srgbClr val="002060"/>
                </a:solidFill>
              </a:rPr>
              <a:t>Seeing our team's continuous dedication in developing the fountain, our Manager Shri Vijay </a:t>
            </a:r>
            <a:r>
              <a:rPr lang="en-GB" sz="2800" dirty="0" err="1" smtClean="0">
                <a:solidFill>
                  <a:srgbClr val="002060"/>
                </a:solidFill>
              </a:rPr>
              <a:t>Dev</a:t>
            </a:r>
            <a:r>
              <a:rPr lang="en-GB" sz="2800" dirty="0" smtClean="0">
                <a:solidFill>
                  <a:srgbClr val="002060"/>
                </a:solidFill>
              </a:rPr>
              <a:t> Sir appreciated the efforts and contributed a beautiful Buddha Statue for the IT Park Fountain.</a:t>
            </a:r>
          </a:p>
          <a:p>
            <a:pPr algn="just"/>
            <a:endParaRPr lang="en-GB" sz="2800" dirty="0" smtClean="0">
              <a:solidFill>
                <a:srgbClr val="002060"/>
              </a:solidFill>
            </a:endParaRPr>
          </a:p>
          <a:p>
            <a:pPr algn="just"/>
            <a:r>
              <a:rPr lang="en-GB" sz="2800" dirty="0" smtClean="0">
                <a:solidFill>
                  <a:srgbClr val="002060"/>
                </a:solidFill>
              </a:rPr>
              <a:t>Our Security staff installed the statue with great respect on top of the fountain rocks and decorated it beautifully with tricolour pots, plants and white pebbles, making it a Peace Corner.</a:t>
            </a:r>
          </a:p>
          <a:p>
            <a:pPr algn="just"/>
            <a:endParaRPr lang="en-GB" sz="2800" dirty="0" smtClean="0">
              <a:solidFill>
                <a:srgbClr val="002060"/>
              </a:solidFill>
            </a:endParaRPr>
          </a:p>
          <a:p>
            <a:pPr algn="ctr"/>
            <a:r>
              <a:rPr lang="en-GB" sz="2800" dirty="0" smtClean="0">
                <a:solidFill>
                  <a:srgbClr val="002060"/>
                </a:solidFill>
              </a:rPr>
              <a:t>This fountain now symbolizes Peace, Knowledge and Dharma – </a:t>
            </a:r>
          </a:p>
          <a:p>
            <a:pPr algn="ctr"/>
            <a:r>
              <a:rPr lang="en-GB" sz="2800" dirty="0" smtClean="0">
                <a:solidFill>
                  <a:srgbClr val="002060"/>
                </a:solidFill>
              </a:rPr>
              <a:t>"</a:t>
            </a:r>
            <a:r>
              <a:rPr lang="en-GB" sz="2800" dirty="0" err="1" smtClean="0">
                <a:solidFill>
                  <a:srgbClr val="002060"/>
                </a:solidFill>
              </a:rPr>
              <a:t>Dharmo</a:t>
            </a:r>
            <a:r>
              <a:rPr lang="en-GB" sz="2800" dirty="0" smtClean="0">
                <a:solidFill>
                  <a:srgbClr val="002060"/>
                </a:solidFill>
              </a:rPr>
              <a:t> </a:t>
            </a:r>
            <a:r>
              <a:rPr lang="en-GB" sz="2800" dirty="0" err="1" smtClean="0">
                <a:solidFill>
                  <a:srgbClr val="002060"/>
                </a:solidFill>
              </a:rPr>
              <a:t>Rakshati</a:t>
            </a:r>
            <a:r>
              <a:rPr lang="en-GB" sz="2800" dirty="0" smtClean="0">
                <a:solidFill>
                  <a:srgbClr val="002060"/>
                </a:solidFill>
              </a:rPr>
              <a:t> </a:t>
            </a:r>
            <a:r>
              <a:rPr lang="en-GB" sz="2800" dirty="0" err="1" smtClean="0">
                <a:solidFill>
                  <a:srgbClr val="002060"/>
                </a:solidFill>
              </a:rPr>
              <a:t>Rakshitah</a:t>
            </a:r>
            <a:r>
              <a:rPr lang="en-GB" sz="2800" dirty="0" smtClean="0">
                <a:solidFill>
                  <a:srgbClr val="002060"/>
                </a:solidFill>
              </a:rPr>
              <a:t>".</a:t>
            </a:r>
          </a:p>
          <a:p>
            <a:pPr algn="ctr"/>
            <a:endParaRPr lang="en-GB" sz="2800" dirty="0">
              <a:solidFill>
                <a:srgbClr val="002060"/>
              </a:solidFill>
            </a:endParaRPr>
          </a:p>
          <a:p>
            <a:pPr algn="ctr"/>
            <a:r>
              <a:rPr lang="en-GB" sz="2800" dirty="0" smtClean="0">
                <a:solidFill>
                  <a:srgbClr val="002060"/>
                </a:solidFill>
              </a:rPr>
              <a:t>With Blessings from Management, Created with Devotion by Security Team</a:t>
            </a:r>
            <a:endParaRPr lang="en-GB" sz="2800" dirty="0">
              <a:solidFill>
                <a:srgbClr val="002060"/>
              </a:solidFill>
            </a:endParaRPr>
          </a:p>
        </p:txBody>
      </p:sp>
    </p:spTree>
    <p:extLst>
      <p:ext uri="{BB962C8B-B14F-4D97-AF65-F5344CB8AC3E}">
        <p14:creationId xmlns:p14="http://schemas.microsoft.com/office/powerpoint/2010/main" val="17730536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hatsApp Image 2026-10-04 at 11.14.05 PM (3)"/>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288029" y="1881809"/>
            <a:ext cx="3750571" cy="4585252"/>
          </a:xfrm>
          <a:prstGeom prst="rect">
            <a:avLst/>
          </a:prstGeom>
          <a:noFill/>
          <a:ln>
            <a:noFill/>
          </a:ln>
        </p:spPr>
      </p:pic>
      <p:pic>
        <p:nvPicPr>
          <p:cNvPr id="3" name="Picture 2" descr="WhatsApp Image 2026-10-04 at 11.14.05 PM"/>
          <p:cNvPicPr>
            <a:picLocks noGrp="1" noChangeAspect="1"/>
          </p:cNvPicPr>
          <p:nvPr isPhoto="1"/>
        </p:nvPicPr>
        <p:blipFill>
          <a:blip r:embed="rId3" cstate="print">
            <a:lum/>
            <a:extLst>
              <a:ext uri="{28A0092B-C50C-407E-A947-70E740481C1C}">
                <a14:useLocalDpi xmlns:a14="http://schemas.microsoft.com/office/drawing/2010/main" val="0"/>
              </a:ext>
            </a:extLst>
          </a:blip>
          <a:stretch>
            <a:fillRect/>
          </a:stretch>
        </p:blipFill>
        <p:spPr>
          <a:xfrm>
            <a:off x="4220714" y="1881809"/>
            <a:ext cx="3750571" cy="4585252"/>
          </a:xfrm>
          <a:prstGeom prst="rect">
            <a:avLst/>
          </a:prstGeom>
          <a:noFill/>
          <a:ln>
            <a:noFill/>
          </a:ln>
        </p:spPr>
      </p:pic>
      <p:sp>
        <p:nvSpPr>
          <p:cNvPr id="4" name="Footer Placeholder 3"/>
          <p:cNvSpPr>
            <a:spLocks noGrp="1"/>
          </p:cNvSpPr>
          <p:nvPr>
            <p:ph type="ftr" sz="quarter" idx="11"/>
          </p:nvPr>
        </p:nvSpPr>
        <p:spPr/>
        <p:txBody>
          <a:bodyPr/>
          <a:lstStyle/>
          <a:p>
            <a:endParaRPr lang="en-GB"/>
          </a:p>
        </p:txBody>
      </p:sp>
      <p:pic>
        <p:nvPicPr>
          <p:cNvPr id="5" name="Picture 4" descr="WhatsApp Image 2026-10-04 at 11.14.06 PM"/>
          <p:cNvPicPr>
            <a:picLocks noGrp="1" noChangeAspect="1"/>
          </p:cNvPicPr>
          <p:nvPr isPhoto="1"/>
        </p:nvPicPr>
        <p:blipFill>
          <a:blip r:embed="rId4" cstate="print">
            <a:lum/>
            <a:extLst>
              <a:ext uri="{28A0092B-C50C-407E-A947-70E740481C1C}">
                <a14:useLocalDpi xmlns:a14="http://schemas.microsoft.com/office/drawing/2010/main" val="0"/>
              </a:ext>
            </a:extLst>
          </a:blip>
          <a:stretch>
            <a:fillRect/>
          </a:stretch>
        </p:blipFill>
        <p:spPr>
          <a:xfrm>
            <a:off x="8153400" y="1881809"/>
            <a:ext cx="3750571" cy="4585252"/>
          </a:xfrm>
          <a:prstGeom prst="rect">
            <a:avLst/>
          </a:prstGeom>
          <a:noFill/>
          <a:ln>
            <a:noFill/>
          </a:ln>
        </p:spPr>
      </p:pic>
      <p:sp>
        <p:nvSpPr>
          <p:cNvPr id="6" name="Rectangle 5"/>
          <p:cNvSpPr/>
          <p:nvPr/>
        </p:nvSpPr>
        <p:spPr>
          <a:xfrm>
            <a:off x="185529" y="150067"/>
            <a:ext cx="11718441" cy="1200329"/>
          </a:xfrm>
          <a:prstGeom prst="rect">
            <a:avLst/>
          </a:prstGeom>
        </p:spPr>
        <p:txBody>
          <a:bodyPr wrap="square">
            <a:spAutoFit/>
          </a:bodyPr>
          <a:lstStyle/>
          <a:p>
            <a:pPr algn="ctr"/>
            <a:r>
              <a:rPr lang="en-GB" sz="2400" b="1" dirty="0" smtClean="0">
                <a:solidFill>
                  <a:srgbClr val="002060"/>
                </a:solidFill>
              </a:rPr>
              <a:t>Attention to Detail: Our security team painted small decorative pots and stones in tricolored, added small green plants and arranged them aesthetically around the fountain. This final decoration made the fountain more lively, colourful and attractive for visitors.</a:t>
            </a:r>
            <a:endParaRPr lang="en-GB" sz="2400" b="1" dirty="0">
              <a:solidFill>
                <a:srgbClr val="002060"/>
              </a:solidFill>
            </a:endParaRPr>
          </a:p>
        </p:txBody>
      </p:sp>
    </p:spTree>
    <p:extLst>
      <p:ext uri="{BB962C8B-B14F-4D97-AF65-F5344CB8AC3E}">
        <p14:creationId xmlns:p14="http://schemas.microsoft.com/office/powerpoint/2010/main" val="18935568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GB"/>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13235" y="1559062"/>
            <a:ext cx="2751251" cy="4653998"/>
          </a:xfrm>
          <a:prstGeom prst="rect">
            <a:avLst/>
          </a:prstGeom>
        </p:spPr>
      </p:pic>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97009" y="1559062"/>
            <a:ext cx="2849217" cy="4653998"/>
          </a:xfrm>
          <a:prstGeom prst="rect">
            <a:avLst/>
          </a:prstGeom>
        </p:spPr>
      </p:pic>
      <p:sp>
        <p:nvSpPr>
          <p:cNvPr id="16" name="Rectangle 15"/>
          <p:cNvSpPr/>
          <p:nvPr/>
        </p:nvSpPr>
        <p:spPr>
          <a:xfrm>
            <a:off x="0" y="169589"/>
            <a:ext cx="12028362" cy="954107"/>
          </a:xfrm>
          <a:prstGeom prst="rect">
            <a:avLst/>
          </a:prstGeom>
        </p:spPr>
        <p:txBody>
          <a:bodyPr wrap="square">
            <a:spAutoFit/>
          </a:bodyPr>
          <a:lstStyle/>
          <a:p>
            <a:pPr algn="ctr"/>
            <a:r>
              <a:rPr lang="en-GB" sz="2800" b="1" dirty="0" smtClean="0">
                <a:solidFill>
                  <a:srgbClr val="002060"/>
                </a:solidFill>
              </a:rPr>
              <a:t>SURROUNDING AREA CLEANING &amp; PLANT TRIMMING Ensuring Safety, Cleanliness &amp; Clear CCTV View</a:t>
            </a:r>
            <a:endParaRPr lang="en-GB" sz="2800" b="1" dirty="0">
              <a:solidFill>
                <a:srgbClr val="002060"/>
              </a:solidFill>
            </a:endParaRPr>
          </a:p>
        </p:txBody>
      </p:sp>
      <p:sp>
        <p:nvSpPr>
          <p:cNvPr id="17" name="Rectangle 16"/>
          <p:cNvSpPr/>
          <p:nvPr/>
        </p:nvSpPr>
        <p:spPr>
          <a:xfrm>
            <a:off x="17864" y="1067439"/>
            <a:ext cx="12028362" cy="461665"/>
          </a:xfrm>
          <a:prstGeom prst="rect">
            <a:avLst/>
          </a:prstGeom>
        </p:spPr>
        <p:txBody>
          <a:bodyPr wrap="square">
            <a:spAutoFit/>
          </a:bodyPr>
          <a:lstStyle/>
          <a:p>
            <a:pPr algn="ctr"/>
            <a:r>
              <a:rPr lang="en-GB" sz="2400" b="1" dirty="0" smtClean="0">
                <a:solidFill>
                  <a:srgbClr val="002060"/>
                </a:solidFill>
              </a:rPr>
              <a:t>Security Team Cleaning Unwanted Leaves &amp; Trimming Plants Around Fountain Area</a:t>
            </a:r>
            <a:endParaRPr lang="en-GB" sz="2400" b="1" dirty="0">
              <a:solidFill>
                <a:srgbClr val="002060"/>
              </a:solidFill>
            </a:endParaRPr>
          </a:p>
        </p:txBody>
      </p:sp>
      <p:sp>
        <p:nvSpPr>
          <p:cNvPr id="18" name="Rectangle 17"/>
          <p:cNvSpPr/>
          <p:nvPr/>
        </p:nvSpPr>
        <p:spPr>
          <a:xfrm>
            <a:off x="3167984" y="1559062"/>
            <a:ext cx="2977711" cy="4618467"/>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9" name="Rectangle 18"/>
          <p:cNvSpPr/>
          <p:nvPr/>
        </p:nvSpPr>
        <p:spPr>
          <a:xfrm>
            <a:off x="76200" y="1560444"/>
            <a:ext cx="2924244" cy="4617085"/>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Tree>
    <p:extLst>
      <p:ext uri="{BB962C8B-B14F-4D97-AF65-F5344CB8AC3E}">
        <p14:creationId xmlns:p14="http://schemas.microsoft.com/office/powerpoint/2010/main" val="20659050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sp>
        <p:nvSpPr>
          <p:cNvPr id="6" name="Rectangle 5"/>
          <p:cNvSpPr/>
          <p:nvPr/>
        </p:nvSpPr>
        <p:spPr>
          <a:xfrm>
            <a:off x="304800" y="808384"/>
            <a:ext cx="11582400" cy="4832092"/>
          </a:xfrm>
          <a:prstGeom prst="rect">
            <a:avLst/>
          </a:prstGeom>
        </p:spPr>
        <p:txBody>
          <a:bodyPr wrap="square">
            <a:spAutoFit/>
          </a:bodyPr>
          <a:lstStyle/>
          <a:p>
            <a:pPr algn="just"/>
            <a:r>
              <a:rPr lang="en-GB" sz="2800" b="1" dirty="0" smtClean="0">
                <a:solidFill>
                  <a:srgbClr val="002060"/>
                </a:solidFill>
              </a:rPr>
              <a:t>Safety &amp; Greenery Maintenance: </a:t>
            </a:r>
          </a:p>
          <a:p>
            <a:pPr algn="just"/>
            <a:r>
              <a:rPr lang="en-GB" sz="2800" dirty="0" smtClean="0">
                <a:solidFill>
                  <a:srgbClr val="002060"/>
                </a:solidFill>
              </a:rPr>
              <a:t>Around the fountain, plants were overgrown and blocking the CCTV camera view and not growing properly. Our Security Team neatly trimmed the unwanted leaves, removed weeds, cleaned the entire surrounding area and made it neat and visible.</a:t>
            </a:r>
          </a:p>
          <a:p>
            <a:pPr algn="just"/>
            <a:r>
              <a:rPr lang="en-GB" sz="2800" b="1" dirty="0" smtClean="0">
                <a:solidFill>
                  <a:srgbClr val="002060"/>
                </a:solidFill>
              </a:rPr>
              <a:t>Benefit: </a:t>
            </a:r>
          </a:p>
          <a:p>
            <a:pPr algn="just"/>
            <a:r>
              <a:rPr lang="en-GB" sz="2800" dirty="0" smtClean="0">
                <a:solidFill>
                  <a:srgbClr val="002060"/>
                </a:solidFill>
              </a:rPr>
              <a:t>Now the area looks clean, plants will grow healthy, and CCTV coverage is 100% clear for security monitoring.</a:t>
            </a:r>
          </a:p>
          <a:p>
            <a:pPr algn="just"/>
            <a:endParaRPr lang="en-GB" sz="2800" dirty="0">
              <a:solidFill>
                <a:srgbClr val="002060"/>
              </a:solidFill>
            </a:endParaRPr>
          </a:p>
          <a:p>
            <a:pPr algn="just"/>
            <a:endParaRPr lang="en-GB" sz="2800" dirty="0" smtClean="0">
              <a:solidFill>
                <a:srgbClr val="002060"/>
              </a:solidFill>
            </a:endParaRPr>
          </a:p>
          <a:p>
            <a:pPr algn="ctr"/>
            <a:r>
              <a:rPr lang="en-GB" sz="2800" dirty="0" smtClean="0">
                <a:solidFill>
                  <a:srgbClr val="002060"/>
                </a:solidFill>
              </a:rPr>
              <a:t>Clean Surroundings, Safe Premises, Clear Vision</a:t>
            </a:r>
            <a:endParaRPr lang="en-GB" sz="2800" dirty="0">
              <a:solidFill>
                <a:srgbClr val="002060"/>
              </a:solidFill>
            </a:endParaRPr>
          </a:p>
        </p:txBody>
      </p:sp>
    </p:spTree>
    <p:extLst>
      <p:ext uri="{BB962C8B-B14F-4D97-AF65-F5344CB8AC3E}">
        <p14:creationId xmlns:p14="http://schemas.microsoft.com/office/powerpoint/2010/main" val="5235312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sp>
        <p:nvSpPr>
          <p:cNvPr id="3" name="Rectangle 2"/>
          <p:cNvSpPr/>
          <p:nvPr/>
        </p:nvSpPr>
        <p:spPr>
          <a:xfrm>
            <a:off x="198782" y="230113"/>
            <a:ext cx="11794435" cy="954107"/>
          </a:xfrm>
          <a:prstGeom prst="rect">
            <a:avLst/>
          </a:prstGeom>
        </p:spPr>
        <p:txBody>
          <a:bodyPr wrap="square">
            <a:spAutoFit/>
          </a:bodyPr>
          <a:lstStyle/>
          <a:p>
            <a:pPr algn="ctr"/>
            <a:r>
              <a:rPr lang="en-GB" sz="2800" b="1" dirty="0" smtClean="0">
                <a:solidFill>
                  <a:srgbClr val="002060"/>
                </a:solidFill>
              </a:rPr>
              <a:t>TRANSFORMATION COMPLETE - FROM DULL TO DIVINE </a:t>
            </a:r>
            <a:r>
              <a:rPr lang="en-GB" sz="2800" b="1" dirty="0" err="1" smtClean="0">
                <a:solidFill>
                  <a:srgbClr val="002060"/>
                </a:solidFill>
              </a:rPr>
              <a:t>Hubli</a:t>
            </a:r>
            <a:r>
              <a:rPr lang="en-GB" sz="2800" b="1" dirty="0" smtClean="0">
                <a:solidFill>
                  <a:srgbClr val="002060"/>
                </a:solidFill>
              </a:rPr>
              <a:t> IT Park Fountain - A Symbol of Teamwork &amp; Dedication</a:t>
            </a:r>
            <a:endParaRPr lang="en-GB" sz="2800" b="1" dirty="0">
              <a:solidFill>
                <a:srgbClr val="002060"/>
              </a:solidFill>
            </a:endParaRPr>
          </a:p>
        </p:txBody>
      </p:sp>
      <p:sp>
        <p:nvSpPr>
          <p:cNvPr id="4" name="Rectangle 3"/>
          <p:cNvSpPr/>
          <p:nvPr/>
        </p:nvSpPr>
        <p:spPr>
          <a:xfrm>
            <a:off x="198781" y="1356498"/>
            <a:ext cx="11794435" cy="461665"/>
          </a:xfrm>
          <a:prstGeom prst="rect">
            <a:avLst/>
          </a:prstGeom>
        </p:spPr>
        <p:txBody>
          <a:bodyPr wrap="square">
            <a:spAutoFit/>
          </a:bodyPr>
          <a:lstStyle/>
          <a:p>
            <a:pPr algn="ctr"/>
            <a:r>
              <a:rPr lang="en-GB" sz="2400" b="1" dirty="0" smtClean="0">
                <a:solidFill>
                  <a:srgbClr val="002060"/>
                </a:solidFill>
              </a:rPr>
              <a:t>FINAL OUTCOME: Peaceful Buddha Fountain with Tricolour Theme &amp; Lush Greenery</a:t>
            </a:r>
            <a:endParaRPr lang="en-GB" sz="2400" b="1" dirty="0">
              <a:solidFill>
                <a:srgbClr val="002060"/>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788349"/>
            <a:ext cx="5486399" cy="4933126"/>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6363" y="1788349"/>
            <a:ext cx="5612298" cy="4998692"/>
          </a:xfrm>
          <a:prstGeom prst="rect">
            <a:avLst/>
          </a:prstGeom>
        </p:spPr>
      </p:pic>
    </p:spTree>
    <p:extLst>
      <p:ext uri="{BB962C8B-B14F-4D97-AF65-F5344CB8AC3E}">
        <p14:creationId xmlns:p14="http://schemas.microsoft.com/office/powerpoint/2010/main" val="15621935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sp>
        <p:nvSpPr>
          <p:cNvPr id="3" name="Rectangle 2"/>
          <p:cNvSpPr/>
          <p:nvPr/>
        </p:nvSpPr>
        <p:spPr>
          <a:xfrm>
            <a:off x="450573" y="1444487"/>
            <a:ext cx="11290853" cy="4401205"/>
          </a:xfrm>
          <a:prstGeom prst="rect">
            <a:avLst/>
          </a:prstGeom>
        </p:spPr>
        <p:txBody>
          <a:bodyPr wrap="square">
            <a:spAutoFit/>
          </a:bodyPr>
          <a:lstStyle/>
          <a:p>
            <a:pPr algn="ctr"/>
            <a:r>
              <a:rPr lang="en-GB" sz="4000" b="1" dirty="0" smtClean="0">
                <a:solidFill>
                  <a:srgbClr val="002060"/>
                </a:solidFill>
              </a:rPr>
              <a:t>From a neglected corner to the most peaceful and photogenic spot of IT Park - The entire beautification was done by our dedicated Security Team with blessings from Manager Shri Vijay </a:t>
            </a:r>
            <a:r>
              <a:rPr lang="en-GB" sz="4000" b="1" dirty="0" err="1" smtClean="0">
                <a:solidFill>
                  <a:srgbClr val="002060"/>
                </a:solidFill>
              </a:rPr>
              <a:t>Dev</a:t>
            </a:r>
            <a:r>
              <a:rPr lang="en-GB" sz="4000" b="1" dirty="0" smtClean="0">
                <a:solidFill>
                  <a:srgbClr val="002060"/>
                </a:solidFill>
              </a:rPr>
              <a:t> Sir.</a:t>
            </a:r>
          </a:p>
          <a:p>
            <a:pPr algn="ctr"/>
            <a:endParaRPr lang="en-GB" sz="4000" b="1" dirty="0" smtClean="0">
              <a:solidFill>
                <a:srgbClr val="002060"/>
              </a:solidFill>
            </a:endParaRPr>
          </a:p>
          <a:p>
            <a:pPr algn="ctr"/>
            <a:r>
              <a:rPr lang="en-GB" sz="4000" b="1" dirty="0" smtClean="0">
                <a:solidFill>
                  <a:srgbClr val="002060"/>
                </a:solidFill>
              </a:rPr>
              <a:t>With Blessings from Management, Created with Devotion by Security Team</a:t>
            </a:r>
            <a:endParaRPr lang="en-GB" sz="4000" b="1" dirty="0">
              <a:solidFill>
                <a:srgbClr val="002060"/>
              </a:solidFill>
            </a:endParaRPr>
          </a:p>
        </p:txBody>
      </p:sp>
    </p:spTree>
    <p:extLst>
      <p:ext uri="{BB962C8B-B14F-4D97-AF65-F5344CB8AC3E}">
        <p14:creationId xmlns:p14="http://schemas.microsoft.com/office/powerpoint/2010/main" val="13968969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endParaRPr lang="en-GB"/>
          </a:p>
        </p:txBody>
      </p:sp>
      <p:pic>
        <p:nvPicPr>
          <p:cNvPr id="3" name="WhatsApp Video 2026-10-05 at 3.54.51 P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15614" y="1579594"/>
            <a:ext cx="5380386" cy="4406348"/>
          </a:xfrm>
          <a:prstGeom prst="rect">
            <a:avLst/>
          </a:prstGeom>
        </p:spPr>
      </p:pic>
      <p:pic>
        <p:nvPicPr>
          <p:cNvPr id="4" name="WhatsApp Video 2026-10-05 at 2.23.39 PM">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rot="16200000">
            <a:off x="6713490" y="1213899"/>
            <a:ext cx="4406348" cy="5137738"/>
          </a:xfrm>
          <a:prstGeom prst="rect">
            <a:avLst/>
          </a:prstGeom>
        </p:spPr>
      </p:pic>
      <p:sp>
        <p:nvSpPr>
          <p:cNvPr id="5" name="Title 2"/>
          <p:cNvSpPr txBox="1">
            <a:spLocks/>
          </p:cNvSpPr>
          <p:nvPr/>
        </p:nvSpPr>
        <p:spPr>
          <a:xfrm>
            <a:off x="715614" y="360049"/>
            <a:ext cx="10515600" cy="73988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600" b="1" dirty="0" smtClean="0">
                <a:solidFill>
                  <a:srgbClr val="002060"/>
                </a:solidFill>
              </a:rPr>
              <a:t>Fountain in Action - Video Presentation</a:t>
            </a:r>
            <a:endParaRPr lang="en-GB" sz="3600" b="1" dirty="0">
              <a:solidFill>
                <a:srgbClr val="002060"/>
              </a:solidFill>
            </a:endParaRPr>
          </a:p>
        </p:txBody>
      </p:sp>
    </p:spTree>
    <p:extLst>
      <p:ext uri="{BB962C8B-B14F-4D97-AF65-F5344CB8AC3E}">
        <p14:creationId xmlns:p14="http://schemas.microsoft.com/office/powerpoint/2010/main" val="33456333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video>
              <p:cMediaNode vol="80000">
                <p:cTn id="13" fill="hold" display="0">
                  <p:stCondLst>
                    <p:cond delay="indefinite"/>
                  </p:stCondLst>
                </p:cTn>
                <p:tgtEl>
                  <p:spTgt spid="4"/>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6983" y="2405959"/>
            <a:ext cx="10515600" cy="1325563"/>
          </a:xfrm>
        </p:spPr>
        <p:txBody>
          <a:bodyPr/>
          <a:lstStyle/>
          <a:p>
            <a:pPr algn="ctr"/>
            <a:r>
              <a:rPr lang="en-GB" b="1" dirty="0" smtClean="0">
                <a:solidFill>
                  <a:srgbClr val="002060"/>
                </a:solidFill>
              </a:rPr>
              <a:t>THANK YOU FOR WATCHING </a:t>
            </a:r>
            <a:endParaRPr lang="en-GB" b="1" dirty="0">
              <a:solidFill>
                <a:srgbClr val="002060"/>
              </a:solidFill>
            </a:endParaRPr>
          </a:p>
        </p:txBody>
      </p:sp>
    </p:spTree>
    <p:extLst>
      <p:ext uri="{BB962C8B-B14F-4D97-AF65-F5344CB8AC3E}">
        <p14:creationId xmlns:p14="http://schemas.microsoft.com/office/powerpoint/2010/main" val="40063205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150</TotalTime>
  <Words>758</Words>
  <Application>Microsoft Office PowerPoint</Application>
  <PresentationFormat>Widescreen</PresentationFormat>
  <Paragraphs>69</Paragraphs>
  <Slides>20</Slides>
  <Notes>2</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FOUNTAIN RESTORATION - BRINGING BACK THE IT PARK GLORY From Neglected Corner to Attractive Waiting Area  A Small Initiative, Big Impact - Improving Visitor Experience  at Hubli IT Park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FOR WATCHING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FOUNTAIN RESTORATION BRINGING BACK THE IT PARK GLORY   From Neglected Corner to Attractive Waiting Area  A Small Initiative, Big Impact - Improving Visitor Experience   at Hubli IT Park</dc:title>
  <dc:creator>itp</dc:creator>
  <cp:lastModifiedBy>itp</cp:lastModifiedBy>
  <cp:revision>8</cp:revision>
  <dcterms:created xsi:type="dcterms:W3CDTF">2026-10-06T09:55:43Z</dcterms:created>
  <dcterms:modified xsi:type="dcterms:W3CDTF">2026-10-22T09:23:09Z</dcterms:modified>
</cp:coreProperties>
</file>