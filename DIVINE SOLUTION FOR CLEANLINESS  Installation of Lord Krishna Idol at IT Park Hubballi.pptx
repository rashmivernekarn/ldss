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56" r:id="rId2"/>
    <p:sldId id="351" r:id="rId3"/>
    <p:sldId id="352" r:id="rId4"/>
    <p:sldId id="354" r:id="rId5"/>
    <p:sldId id="355" r:id="rId6"/>
    <p:sldId id="360" r:id="rId7"/>
    <p:sldId id="353" r:id="rId8"/>
    <p:sldId id="361" r:id="rId9"/>
    <p:sldId id="322" r:id="rId10"/>
    <p:sldId id="362" r:id="rId11"/>
    <p:sldId id="331" r:id="rId12"/>
    <p:sldId id="340" r:id="rId13"/>
    <p:sldId id="358" r:id="rId14"/>
    <p:sldId id="349" r:id="rId15"/>
    <p:sldId id="357" r:id="rId16"/>
    <p:sldId id="359" r:id="rId17"/>
    <p:sldId id="363" r:id="rId18"/>
    <p:sldId id="364" r:id="rId19"/>
    <p:sldId id="318" r:id="rId20"/>
  </p:sldIdLst>
  <p:sldSz cx="12192000" cy="6858000"/>
  <p:notesSz cx="6858000" cy="9144000"/>
  <p:photoAlbum layout="4pic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63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E5E558-CBC7-4C91-99D7-23995D372E88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F77D07-7DC4-4B43-8F3D-68D0C9CFCA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1539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77D07-7DC4-4B43-8F3D-68D0C9CFCA1B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29876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4D1FB-9BB9-4C83-9D37-08B212E3A8DD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D76AB-8003-4F1D-8216-B8E28183C9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9487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4D1FB-9BB9-4C83-9D37-08B212E3A8DD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D76AB-8003-4F1D-8216-B8E28183C9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1194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4D1FB-9BB9-4C83-9D37-08B212E3A8DD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D76AB-8003-4F1D-8216-B8E28183C9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1827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4D1FB-9BB9-4C83-9D37-08B212E3A8DD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D76AB-8003-4F1D-8216-B8E28183C9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0416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4D1FB-9BB9-4C83-9D37-08B212E3A8DD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D76AB-8003-4F1D-8216-B8E28183C9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6797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4D1FB-9BB9-4C83-9D37-08B212E3A8DD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D76AB-8003-4F1D-8216-B8E28183C9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8299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4D1FB-9BB9-4C83-9D37-08B212E3A8DD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D76AB-8003-4F1D-8216-B8E28183C9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532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4D1FB-9BB9-4C83-9D37-08B212E3A8DD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D76AB-8003-4F1D-8216-B8E28183C9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966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4D1FB-9BB9-4C83-9D37-08B212E3A8DD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D76AB-8003-4F1D-8216-B8E28183C9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833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4D1FB-9BB9-4C83-9D37-08B212E3A8DD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D76AB-8003-4F1D-8216-B8E28183C9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9785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4D1FB-9BB9-4C83-9D37-08B212E3A8DD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D76AB-8003-4F1D-8216-B8E28183C9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1792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74D1FB-9BB9-4C83-9D37-08B212E3A8DD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3D76AB-8003-4F1D-8216-B8E28183C9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7265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13" Type="http://schemas.openxmlformats.org/officeDocument/2006/relationships/image" Target="../media/image16.jpeg"/><Relationship Id="rId3" Type="http://schemas.openxmlformats.org/officeDocument/2006/relationships/image" Target="../media/image6.jpeg"/><Relationship Id="rId7" Type="http://schemas.openxmlformats.org/officeDocument/2006/relationships/image" Target="../media/image10.jpeg"/><Relationship Id="rId12" Type="http://schemas.openxmlformats.org/officeDocument/2006/relationships/image" Target="../media/image15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eg"/><Relationship Id="rId11" Type="http://schemas.openxmlformats.org/officeDocument/2006/relationships/image" Target="../media/image14.jpeg"/><Relationship Id="rId5" Type="http://schemas.openxmlformats.org/officeDocument/2006/relationships/image" Target="../media/image8.jpeg"/><Relationship Id="rId10" Type="http://schemas.openxmlformats.org/officeDocument/2006/relationships/image" Target="../media/image13.jpeg"/><Relationship Id="rId4" Type="http://schemas.openxmlformats.org/officeDocument/2006/relationships/image" Target="../media/image7.jpeg"/><Relationship Id="rId9" Type="http://schemas.openxmlformats.org/officeDocument/2006/relationships/image" Target="../media/image12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jpeg"/><Relationship Id="rId3" Type="http://schemas.openxmlformats.org/officeDocument/2006/relationships/image" Target="../media/image22.jpeg"/><Relationship Id="rId7" Type="http://schemas.openxmlformats.org/officeDocument/2006/relationships/image" Target="../media/image26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jpeg"/><Relationship Id="rId5" Type="http://schemas.openxmlformats.org/officeDocument/2006/relationships/image" Target="../media/image24.jpeg"/><Relationship Id="rId4" Type="http://schemas.openxmlformats.org/officeDocument/2006/relationships/image" Target="../media/image23.jpeg"/><Relationship Id="rId9" Type="http://schemas.openxmlformats.org/officeDocument/2006/relationships/image" Target="../media/image28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jpeg"/><Relationship Id="rId3" Type="http://schemas.openxmlformats.org/officeDocument/2006/relationships/image" Target="../media/image32.jpeg"/><Relationship Id="rId7" Type="http://schemas.openxmlformats.org/officeDocument/2006/relationships/image" Target="../media/image36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jpeg"/><Relationship Id="rId5" Type="http://schemas.openxmlformats.org/officeDocument/2006/relationships/image" Target="../media/image34.jpeg"/><Relationship Id="rId4" Type="http://schemas.openxmlformats.org/officeDocument/2006/relationships/image" Target="../media/image33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7" Type="http://schemas.openxmlformats.org/officeDocument/2006/relationships/image" Target="../media/image43.jpe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jpeg"/><Relationship Id="rId5" Type="http://schemas.openxmlformats.org/officeDocument/2006/relationships/image" Target="../media/image41.jpeg"/><Relationship Id="rId4" Type="http://schemas.openxmlformats.org/officeDocument/2006/relationships/image" Target="../media/image40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>
            <a:spLocks/>
          </p:cNvSpPr>
          <p:nvPr/>
        </p:nvSpPr>
        <p:spPr>
          <a:xfrm>
            <a:off x="1510747" y="636103"/>
            <a:ext cx="9144000" cy="172278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000" b="1" dirty="0" smtClean="0">
                <a:solidFill>
                  <a:srgbClr val="002060"/>
                </a:solidFill>
              </a:rPr>
              <a:t>DIVINE SOLUTION FOR CLEANLINESS  Installation of Lord Krishna Idol </a:t>
            </a:r>
            <a:br>
              <a:rPr lang="en-GB" sz="4000" b="1" dirty="0" smtClean="0">
                <a:solidFill>
                  <a:srgbClr val="002060"/>
                </a:solidFill>
              </a:rPr>
            </a:br>
            <a:r>
              <a:rPr lang="en-GB" sz="4000" b="1" dirty="0" smtClean="0">
                <a:solidFill>
                  <a:srgbClr val="002060"/>
                </a:solidFill>
              </a:rPr>
              <a:t>at IT Park, </a:t>
            </a:r>
            <a:r>
              <a:rPr lang="en-GB" sz="4000" b="1" dirty="0" err="1" smtClean="0">
                <a:solidFill>
                  <a:srgbClr val="002060"/>
                </a:solidFill>
              </a:rPr>
              <a:t>Hubballi</a:t>
            </a:r>
            <a:endParaRPr lang="en-GB" sz="4000" b="1" dirty="0">
              <a:solidFill>
                <a:srgbClr val="002060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5276" y="2358884"/>
            <a:ext cx="1914941" cy="1914941"/>
          </a:xfrm>
          <a:prstGeom prst="rect">
            <a:avLst/>
          </a:prstGeom>
        </p:spPr>
      </p:pic>
      <p:sp>
        <p:nvSpPr>
          <p:cNvPr id="11" name="Content Placeholder 2"/>
          <p:cNvSpPr txBox="1">
            <a:spLocks/>
          </p:cNvSpPr>
          <p:nvPr/>
        </p:nvSpPr>
        <p:spPr>
          <a:xfrm>
            <a:off x="944217" y="4273825"/>
            <a:ext cx="10515600" cy="28523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3200" dirty="0" smtClean="0">
                <a:solidFill>
                  <a:srgbClr val="002060"/>
                </a:solidFill>
              </a:rPr>
              <a:t>An </a:t>
            </a:r>
            <a:r>
              <a:rPr lang="en-GB" sz="3200" dirty="0" smtClean="0">
                <a:solidFill>
                  <a:srgbClr val="002060"/>
                </a:solidFill>
              </a:rPr>
              <a:t>Innovative Initiative by Security Team </a:t>
            </a:r>
          </a:p>
          <a:p>
            <a:r>
              <a:rPr lang="en-GB" sz="3200" dirty="0" smtClean="0">
                <a:solidFill>
                  <a:srgbClr val="002060"/>
                </a:solidFill>
              </a:rPr>
              <a:t> Supported by </a:t>
            </a:r>
          </a:p>
          <a:p>
            <a:r>
              <a:rPr lang="en-GB" sz="3200" dirty="0" smtClean="0">
                <a:solidFill>
                  <a:srgbClr val="002060"/>
                </a:solidFill>
              </a:rPr>
              <a:t>Vijay </a:t>
            </a:r>
            <a:r>
              <a:rPr lang="en-GB" sz="3200" dirty="0" err="1" smtClean="0">
                <a:solidFill>
                  <a:srgbClr val="002060"/>
                </a:solidFill>
              </a:rPr>
              <a:t>Dev</a:t>
            </a:r>
            <a:r>
              <a:rPr lang="en-GB" sz="3200" dirty="0" smtClean="0">
                <a:solidFill>
                  <a:srgbClr val="002060"/>
                </a:solidFill>
              </a:rPr>
              <a:t> Sir &amp; </a:t>
            </a:r>
            <a:r>
              <a:rPr lang="en-GB" sz="3200" dirty="0" err="1" smtClean="0">
                <a:solidFill>
                  <a:srgbClr val="002060"/>
                </a:solidFill>
              </a:rPr>
              <a:t>Mahantesh</a:t>
            </a:r>
            <a:r>
              <a:rPr lang="en-GB" sz="3200" dirty="0" smtClean="0">
                <a:solidFill>
                  <a:srgbClr val="002060"/>
                </a:solidFill>
              </a:rPr>
              <a:t> </a:t>
            </a:r>
            <a:r>
              <a:rPr lang="en-GB" sz="3200" dirty="0" err="1" smtClean="0">
                <a:solidFill>
                  <a:srgbClr val="002060"/>
                </a:solidFill>
              </a:rPr>
              <a:t>Bannimarad</a:t>
            </a:r>
            <a:r>
              <a:rPr lang="en-GB" sz="3200" dirty="0" smtClean="0">
                <a:solidFill>
                  <a:srgbClr val="002060"/>
                </a:solidFill>
              </a:rPr>
              <a:t> Sir</a:t>
            </a:r>
            <a:endParaRPr lang="en-GB" sz="32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38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8687" y="1189520"/>
            <a:ext cx="10515600" cy="4351338"/>
          </a:xfrm>
        </p:spPr>
        <p:txBody>
          <a:bodyPr>
            <a:normAutofit/>
          </a:bodyPr>
          <a:lstStyle/>
          <a:p>
            <a:pPr algn="just"/>
            <a:r>
              <a:rPr lang="en-GB" sz="3200" dirty="0" smtClean="0">
                <a:solidFill>
                  <a:srgbClr val="002060"/>
                </a:solidFill>
              </a:rPr>
              <a:t>THE CHALLENGE - </a:t>
            </a:r>
            <a:r>
              <a:rPr lang="en-GB" sz="3200" dirty="0" err="1" smtClean="0">
                <a:solidFill>
                  <a:srgbClr val="002060"/>
                </a:solidFill>
              </a:rPr>
              <a:t>Aniyamitha</a:t>
            </a:r>
            <a:r>
              <a:rPr lang="en-GB" sz="3200" dirty="0" smtClean="0">
                <a:solidFill>
                  <a:srgbClr val="002060"/>
                </a:solidFill>
              </a:rPr>
              <a:t> </a:t>
            </a:r>
            <a:r>
              <a:rPr lang="en-GB" sz="3200" dirty="0" err="1" smtClean="0">
                <a:solidFill>
                  <a:srgbClr val="002060"/>
                </a:solidFill>
              </a:rPr>
              <a:t>Anachara</a:t>
            </a:r>
            <a:endParaRPr lang="en-GB" sz="3200" dirty="0" smtClean="0">
              <a:solidFill>
                <a:srgbClr val="002060"/>
              </a:solidFill>
            </a:endParaRPr>
          </a:p>
          <a:p>
            <a:pPr algn="just"/>
            <a:r>
              <a:rPr lang="en-GB" sz="3200" dirty="0" smtClean="0">
                <a:solidFill>
                  <a:srgbClr val="002060"/>
                </a:solidFill>
              </a:rPr>
              <a:t>THE CHALLENGE: Unhygienic Practices at IT Park Premises</a:t>
            </a:r>
          </a:p>
          <a:p>
            <a:pPr marL="0" indent="0" algn="just">
              <a:buNone/>
            </a:pPr>
            <a:r>
              <a:rPr lang="en-GB" sz="3200" b="1" dirty="0" smtClean="0">
                <a:solidFill>
                  <a:srgbClr val="002060"/>
                </a:solidFill>
              </a:rPr>
              <a:t>Points: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GB" sz="3200" dirty="0" smtClean="0">
                <a:solidFill>
                  <a:srgbClr val="002060"/>
                </a:solidFill>
              </a:rPr>
              <a:t>People littering </a:t>
            </a:r>
            <a:r>
              <a:rPr lang="en-GB" sz="3200" dirty="0" smtClean="0">
                <a:solidFill>
                  <a:srgbClr val="002060"/>
                </a:solidFill>
              </a:rPr>
              <a:t>garbage  everywhere </a:t>
            </a:r>
            <a:r>
              <a:rPr lang="en-GB" sz="3200" dirty="0" err="1" smtClean="0">
                <a:solidFill>
                  <a:srgbClr val="002060"/>
                </a:solidFill>
              </a:rPr>
              <a:t>Gutkha</a:t>
            </a:r>
            <a:r>
              <a:rPr lang="en-GB" sz="3200" dirty="0" smtClean="0">
                <a:solidFill>
                  <a:srgbClr val="002060"/>
                </a:solidFill>
              </a:rPr>
              <a:t>,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GB" sz="3200" dirty="0" err="1" smtClean="0">
                <a:solidFill>
                  <a:srgbClr val="002060"/>
                </a:solidFill>
              </a:rPr>
              <a:t>Paan</a:t>
            </a:r>
            <a:r>
              <a:rPr lang="en-GB" sz="3200" dirty="0" smtClean="0">
                <a:solidFill>
                  <a:srgbClr val="002060"/>
                </a:solidFill>
              </a:rPr>
              <a:t> chewing and spitting on walls,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GB" sz="3200" dirty="0" smtClean="0">
                <a:solidFill>
                  <a:srgbClr val="002060"/>
                </a:solidFill>
              </a:rPr>
              <a:t>corridors &amp; lobby Open urination in isolated areas Created unhygienic environment &amp; bad image</a:t>
            </a:r>
            <a:endParaRPr lang="en-GB" sz="32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7195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4948" y="1335294"/>
            <a:ext cx="10515600" cy="4351338"/>
          </a:xfrm>
        </p:spPr>
        <p:txBody>
          <a:bodyPr>
            <a:normAutofit/>
          </a:bodyPr>
          <a:lstStyle/>
          <a:p>
            <a:pPr algn="just"/>
            <a:r>
              <a:rPr lang="en-GB" sz="3200" dirty="0" smtClean="0">
                <a:solidFill>
                  <a:srgbClr val="002060"/>
                </a:solidFill>
              </a:rPr>
              <a:t>FAILED ATTEMPTS TO CONTROL</a:t>
            </a:r>
          </a:p>
          <a:p>
            <a:pPr algn="just"/>
            <a:r>
              <a:rPr lang="en-GB" sz="3200" dirty="0" smtClean="0">
                <a:solidFill>
                  <a:srgbClr val="002060"/>
                </a:solidFill>
              </a:rPr>
              <a:t>PREVIOUS EFFORTS - ALL CONVENTIONAL METHODS FAILED</a:t>
            </a:r>
          </a:p>
          <a:p>
            <a:pPr marL="0" indent="0" algn="just">
              <a:buNone/>
            </a:pPr>
            <a:r>
              <a:rPr lang="en-GB" sz="3200" b="1" dirty="0" smtClean="0">
                <a:solidFill>
                  <a:srgbClr val="002060"/>
                </a:solidFill>
              </a:rPr>
              <a:t>Points:</a:t>
            </a:r>
          </a:p>
          <a:p>
            <a:pPr algn="just"/>
            <a:r>
              <a:rPr lang="en-GB" sz="3200" dirty="0" smtClean="0">
                <a:solidFill>
                  <a:srgbClr val="002060"/>
                </a:solidFill>
              </a:rPr>
              <a:t>Pasted "No Spitting" Notice Boards at spitting zones People tore the notice boards, Applied Lime (</a:t>
            </a:r>
            <a:r>
              <a:rPr lang="en-GB" sz="3200" dirty="0" err="1" smtClean="0">
                <a:solidFill>
                  <a:srgbClr val="002060"/>
                </a:solidFill>
              </a:rPr>
              <a:t>Sunna</a:t>
            </a:r>
            <a:r>
              <a:rPr lang="en-GB" sz="3200" dirty="0" smtClean="0">
                <a:solidFill>
                  <a:srgbClr val="002060"/>
                </a:solidFill>
              </a:rPr>
              <a:t>) on spitted walls Cleaned repeatedly. </a:t>
            </a:r>
          </a:p>
          <a:p>
            <a:pPr algn="just"/>
            <a:r>
              <a:rPr lang="en-GB" sz="3200" dirty="0" smtClean="0">
                <a:solidFill>
                  <a:srgbClr val="002060"/>
                </a:solidFill>
              </a:rPr>
              <a:t>but people continued spitting Impossible to control.</a:t>
            </a:r>
            <a:endParaRPr lang="en-GB" sz="32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297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705" y="1003990"/>
            <a:ext cx="10515600" cy="4351338"/>
          </a:xfrm>
        </p:spPr>
        <p:txBody>
          <a:bodyPr>
            <a:normAutofit/>
          </a:bodyPr>
          <a:lstStyle/>
          <a:p>
            <a:r>
              <a:rPr lang="en-GB" sz="3200" b="1" dirty="0" smtClean="0">
                <a:solidFill>
                  <a:srgbClr val="002060"/>
                </a:solidFill>
              </a:rPr>
              <a:t>THE DIVINE IDEA</a:t>
            </a:r>
          </a:p>
          <a:p>
            <a:pPr algn="just"/>
            <a:r>
              <a:rPr lang="en-GB" sz="3200" dirty="0" smtClean="0">
                <a:solidFill>
                  <a:srgbClr val="002060"/>
                </a:solidFill>
              </a:rPr>
              <a:t>INNOVATIVE IDEA: Divine Presence to Maintain Cleanliness</a:t>
            </a:r>
          </a:p>
          <a:p>
            <a:pPr algn="just"/>
            <a:r>
              <a:rPr lang="en-GB" sz="3200" b="1" dirty="0" smtClean="0">
                <a:solidFill>
                  <a:srgbClr val="002060"/>
                </a:solidFill>
              </a:rPr>
              <a:t>Points:</a:t>
            </a:r>
          </a:p>
          <a:p>
            <a:pPr algn="just"/>
            <a:r>
              <a:rPr lang="en-GB" sz="3200" dirty="0" smtClean="0">
                <a:solidFill>
                  <a:srgbClr val="002060"/>
                </a:solidFill>
              </a:rPr>
              <a:t>Thought: If God Murthy is present, people will have </a:t>
            </a:r>
            <a:r>
              <a:rPr lang="en-GB" sz="3200" dirty="0" err="1" smtClean="0">
                <a:solidFill>
                  <a:srgbClr val="002060"/>
                </a:solidFill>
              </a:rPr>
              <a:t>Bhaya</a:t>
            </a:r>
            <a:r>
              <a:rPr lang="en-GB" sz="3200" dirty="0" smtClean="0">
                <a:solidFill>
                  <a:srgbClr val="002060"/>
                </a:solidFill>
              </a:rPr>
              <a:t>-Bhakti Due to devotion.</a:t>
            </a:r>
          </a:p>
          <a:p>
            <a:pPr algn="just"/>
            <a:r>
              <a:rPr lang="en-GB" sz="3200" dirty="0">
                <a:solidFill>
                  <a:srgbClr val="002060"/>
                </a:solidFill>
              </a:rPr>
              <a:t>T</a:t>
            </a:r>
            <a:r>
              <a:rPr lang="en-GB" sz="3200" dirty="0" smtClean="0">
                <a:solidFill>
                  <a:srgbClr val="002060"/>
                </a:solidFill>
              </a:rPr>
              <a:t>hey will stop spitting &amp; littering Idea discussed with respected Manager Shri Vijay </a:t>
            </a:r>
            <a:r>
              <a:rPr lang="en-GB" sz="3200" dirty="0" err="1" smtClean="0">
                <a:solidFill>
                  <a:srgbClr val="002060"/>
                </a:solidFill>
              </a:rPr>
              <a:t>Dev</a:t>
            </a:r>
            <a:r>
              <a:rPr lang="en-GB" sz="3200" dirty="0" smtClean="0">
                <a:solidFill>
                  <a:srgbClr val="002060"/>
                </a:solidFill>
              </a:rPr>
              <a:t> Sir.</a:t>
            </a:r>
          </a:p>
          <a:p>
            <a:pPr algn="just"/>
            <a:r>
              <a:rPr lang="en-GB" sz="3200" dirty="0" smtClean="0">
                <a:solidFill>
                  <a:srgbClr val="002060"/>
                </a:solidFill>
              </a:rPr>
              <a:t>Sir appreciated and gave permission immediately.</a:t>
            </a:r>
            <a:endParaRPr lang="en-GB" sz="32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9649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3583" y="530086"/>
            <a:ext cx="11092069" cy="5367131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GB" sz="3200" b="1" dirty="0" smtClean="0">
                <a:solidFill>
                  <a:srgbClr val="002060"/>
                </a:solidFill>
              </a:rPr>
              <a:t> WHY LORD KRISHNA?</a:t>
            </a:r>
          </a:p>
          <a:p>
            <a:pPr algn="just"/>
            <a:r>
              <a:rPr lang="en-GB" sz="3200" dirty="0" smtClean="0">
                <a:solidFill>
                  <a:srgbClr val="002060"/>
                </a:solidFill>
              </a:rPr>
              <a:t>Perfect for Open Garden Concept</a:t>
            </a:r>
          </a:p>
          <a:p>
            <a:pPr marL="0" indent="0" algn="just">
              <a:buNone/>
            </a:pPr>
            <a:r>
              <a:rPr lang="en-GB" sz="3200" b="1" dirty="0" smtClean="0">
                <a:solidFill>
                  <a:srgbClr val="002060"/>
                </a:solidFill>
              </a:rPr>
              <a:t>Points:</a:t>
            </a:r>
          </a:p>
          <a:p>
            <a:pPr algn="just"/>
            <a:r>
              <a:rPr lang="en-GB" sz="3200" dirty="0" smtClean="0">
                <a:solidFill>
                  <a:srgbClr val="002060"/>
                </a:solidFill>
              </a:rPr>
              <a:t>If we install any God, daily </a:t>
            </a:r>
            <a:r>
              <a:rPr lang="en-GB" sz="3200" dirty="0" err="1" smtClean="0">
                <a:solidFill>
                  <a:srgbClr val="002060"/>
                </a:solidFill>
              </a:rPr>
              <a:t>Pooja</a:t>
            </a:r>
            <a:r>
              <a:rPr lang="en-GB" sz="3200" dirty="0" smtClean="0">
                <a:solidFill>
                  <a:srgbClr val="002060"/>
                </a:solidFill>
              </a:rPr>
              <a:t> is mandatory Our intention is Open Garden Concept with Clean &amp; Hygienic purpose Lord Krishna symbolizes Love, Peace &amp; Cleanliness Hence decided to install Krishna </a:t>
            </a:r>
            <a:r>
              <a:rPr lang="en-GB" sz="3200" dirty="0" err="1" smtClean="0">
                <a:solidFill>
                  <a:srgbClr val="002060"/>
                </a:solidFill>
              </a:rPr>
              <a:t>Vigraha</a:t>
            </a:r>
            <a:endParaRPr lang="en-GB" sz="3200" dirty="0" smtClean="0">
              <a:solidFill>
                <a:srgbClr val="002060"/>
              </a:solidFill>
            </a:endParaRPr>
          </a:p>
          <a:p>
            <a:pPr algn="just"/>
            <a:r>
              <a:rPr lang="en-GB" sz="3200" b="1" dirty="0" smtClean="0">
                <a:solidFill>
                  <a:srgbClr val="002060"/>
                </a:solidFill>
              </a:rPr>
              <a:t>SUPPORT &amp; CONTRIBUTION FOR NOBLE CAUSE</a:t>
            </a:r>
          </a:p>
          <a:p>
            <a:pPr algn="just"/>
            <a:r>
              <a:rPr lang="en-GB" sz="3200" dirty="0" smtClean="0">
                <a:solidFill>
                  <a:srgbClr val="002060"/>
                </a:solidFill>
              </a:rPr>
              <a:t>Manager Sir guided to contact Training Centre Head Shri </a:t>
            </a:r>
            <a:r>
              <a:rPr lang="en-GB" sz="3200" dirty="0" err="1" smtClean="0">
                <a:solidFill>
                  <a:srgbClr val="002060"/>
                </a:solidFill>
              </a:rPr>
              <a:t>Mahantesh</a:t>
            </a:r>
            <a:r>
              <a:rPr lang="en-GB" sz="3200" dirty="0" smtClean="0">
                <a:solidFill>
                  <a:srgbClr val="002060"/>
                </a:solidFill>
              </a:rPr>
              <a:t> </a:t>
            </a:r>
            <a:r>
              <a:rPr lang="en-GB" sz="3200" dirty="0" err="1" smtClean="0">
                <a:solidFill>
                  <a:srgbClr val="002060"/>
                </a:solidFill>
              </a:rPr>
              <a:t>Bannimarad</a:t>
            </a:r>
            <a:r>
              <a:rPr lang="en-GB" sz="3200" dirty="0" smtClean="0">
                <a:solidFill>
                  <a:srgbClr val="002060"/>
                </a:solidFill>
              </a:rPr>
              <a:t>. He happily agreed to contribute money for Krishna Murthy Our staff visited shop, selected beautiful Krishna Idol Brought with devotion - Example of Teamwork</a:t>
            </a:r>
          </a:p>
          <a:p>
            <a:pPr algn="just"/>
            <a:endParaRPr lang="en-GB" sz="32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4433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7565" y="463826"/>
            <a:ext cx="11436626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b="1" dirty="0" smtClean="0">
                <a:solidFill>
                  <a:srgbClr val="002060"/>
                </a:solidFill>
              </a:rPr>
              <a:t>FINAL RESULT - BEFORE </a:t>
            </a:r>
            <a:r>
              <a:rPr lang="en-GB" sz="3200" b="1" dirty="0" err="1" smtClean="0">
                <a:solidFill>
                  <a:srgbClr val="002060"/>
                </a:solidFill>
              </a:rPr>
              <a:t>vs</a:t>
            </a:r>
            <a:r>
              <a:rPr lang="en-GB" sz="3200" b="1" dirty="0" smtClean="0">
                <a:solidFill>
                  <a:srgbClr val="002060"/>
                </a:solidFill>
              </a:rPr>
              <a:t> AFTER</a:t>
            </a:r>
          </a:p>
          <a:p>
            <a:pPr algn="ctr"/>
            <a:r>
              <a:rPr lang="en-GB" sz="3200" b="1" dirty="0" smtClean="0">
                <a:solidFill>
                  <a:srgbClr val="002060"/>
                </a:solidFill>
              </a:rPr>
              <a:t>TRANSFORMATION COMPLETE: 100% SUCCESS</a:t>
            </a:r>
          </a:p>
          <a:p>
            <a:pPr algn="just"/>
            <a:r>
              <a:rPr lang="en-GB" sz="3200" b="1" dirty="0" smtClean="0">
                <a:solidFill>
                  <a:srgbClr val="002060"/>
                </a:solidFill>
              </a:rPr>
              <a:t>POINTS:</a:t>
            </a:r>
          </a:p>
          <a:p>
            <a:pPr algn="just"/>
            <a:r>
              <a:rPr lang="en-GB" sz="3200" b="1" dirty="0" smtClean="0">
                <a:solidFill>
                  <a:srgbClr val="002060"/>
                </a:solidFill>
              </a:rPr>
              <a:t>BEFORE: </a:t>
            </a:r>
            <a:r>
              <a:rPr lang="en-GB" sz="3200" dirty="0" err="1" smtClean="0">
                <a:solidFill>
                  <a:srgbClr val="002060"/>
                </a:solidFill>
              </a:rPr>
              <a:t>Gutkha</a:t>
            </a:r>
            <a:r>
              <a:rPr lang="en-GB" sz="3200" dirty="0" smtClean="0">
                <a:solidFill>
                  <a:srgbClr val="002060"/>
                </a:solidFill>
              </a:rPr>
              <a:t> stains, Garbage, Bad smell</a:t>
            </a:r>
          </a:p>
          <a:p>
            <a:pPr algn="just"/>
            <a:r>
              <a:rPr lang="en-GB" sz="3200" b="1" dirty="0" smtClean="0">
                <a:solidFill>
                  <a:srgbClr val="002060"/>
                </a:solidFill>
              </a:rPr>
              <a:t>AFTER: </a:t>
            </a:r>
            <a:r>
              <a:rPr lang="en-GB" sz="3200" dirty="0" smtClean="0">
                <a:solidFill>
                  <a:srgbClr val="002060"/>
                </a:solidFill>
              </a:rPr>
              <a:t>No spitting, Clean &amp; Divine, People show respect, Positive environment.</a:t>
            </a:r>
          </a:p>
          <a:p>
            <a:pPr algn="just"/>
            <a:r>
              <a:rPr lang="en-GB" sz="3200" b="1" dirty="0" smtClean="0">
                <a:solidFill>
                  <a:srgbClr val="002060"/>
                </a:solidFill>
              </a:rPr>
              <a:t>RESULT: </a:t>
            </a:r>
            <a:r>
              <a:rPr lang="en-GB" sz="3200" dirty="0" smtClean="0">
                <a:solidFill>
                  <a:srgbClr val="002060"/>
                </a:solidFill>
              </a:rPr>
              <a:t>Divine Fear Worked Where Notices Failed</a:t>
            </a:r>
            <a:r>
              <a:rPr lang="en-GB" sz="3200" dirty="0">
                <a:solidFill>
                  <a:srgbClr val="002060"/>
                </a:solidFill>
              </a:rPr>
              <a:t>.</a:t>
            </a:r>
            <a:endParaRPr lang="en-GB" sz="3200" dirty="0" smtClean="0">
              <a:solidFill>
                <a:srgbClr val="002060"/>
              </a:solidFill>
            </a:endParaRPr>
          </a:p>
          <a:p>
            <a:pPr algn="just"/>
            <a:r>
              <a:rPr lang="en-GB" sz="3200" dirty="0" smtClean="0">
                <a:solidFill>
                  <a:srgbClr val="002060"/>
                </a:solidFill>
              </a:rPr>
              <a:t>Blessings from Management, Contribution from Training Centre, Created with Devotion by Security Team</a:t>
            </a:r>
          </a:p>
          <a:p>
            <a:pPr algn="just"/>
            <a:endParaRPr lang="en-GB" sz="3200" dirty="0">
              <a:solidFill>
                <a:srgbClr val="002060"/>
              </a:solidFill>
            </a:endParaRPr>
          </a:p>
          <a:p>
            <a:pPr algn="just"/>
            <a:r>
              <a:rPr lang="en-GB" sz="3200" dirty="0" smtClean="0">
                <a:solidFill>
                  <a:srgbClr val="002060"/>
                </a:solidFill>
              </a:rPr>
              <a:t>JAI SHRI KRISHNA</a:t>
            </a:r>
            <a:endParaRPr lang="en-GB" sz="32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8763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21932" y="1632378"/>
            <a:ext cx="3634974" cy="4502785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  <p:sp>
        <p:nvSpPr>
          <p:cNvPr id="5" name="Rectangle 4"/>
          <p:cNvSpPr/>
          <p:nvPr/>
        </p:nvSpPr>
        <p:spPr>
          <a:xfrm>
            <a:off x="4055165" y="1622853"/>
            <a:ext cx="3634974" cy="451231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8000434" y="1632378"/>
            <a:ext cx="3634974" cy="4512310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321932" y="336131"/>
            <a:ext cx="11410121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b="1" dirty="0" smtClean="0">
                <a:solidFill>
                  <a:srgbClr val="002060"/>
                </a:solidFill>
              </a:rPr>
              <a:t>INITIAL STAGE: Condition of the Area Before Development of </a:t>
            </a:r>
          </a:p>
          <a:p>
            <a:pPr algn="ctr"/>
            <a:r>
              <a:rPr lang="en-GB" sz="3200" b="1" dirty="0" smtClean="0">
                <a:solidFill>
                  <a:srgbClr val="002060"/>
                </a:solidFill>
              </a:rPr>
              <a:t>Shri Krishna Garden</a:t>
            </a:r>
            <a:endParaRPr lang="en-GB" sz="32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4770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1209" y="858216"/>
            <a:ext cx="10515600" cy="4999244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GB" sz="3600" b="1" dirty="0" smtClean="0">
                <a:solidFill>
                  <a:srgbClr val="002060"/>
                </a:solidFill>
              </a:rPr>
              <a:t>BEFORE - THE UNUTILIZED &amp; UNCLEAN SPACE</a:t>
            </a:r>
          </a:p>
          <a:p>
            <a:pPr algn="just"/>
            <a:r>
              <a:rPr lang="en-GB" sz="3200" dirty="0" smtClean="0">
                <a:solidFill>
                  <a:srgbClr val="002060"/>
                </a:solidFill>
              </a:rPr>
              <a:t>This open area inside IT Park </a:t>
            </a:r>
            <a:r>
              <a:rPr lang="en-GB" sz="3200" dirty="0" err="1" smtClean="0">
                <a:solidFill>
                  <a:srgbClr val="002060"/>
                </a:solidFill>
              </a:rPr>
              <a:t>Hubballi</a:t>
            </a:r>
            <a:r>
              <a:rPr lang="en-GB" sz="3200" dirty="0" smtClean="0">
                <a:solidFill>
                  <a:srgbClr val="002060"/>
                </a:solidFill>
              </a:rPr>
              <a:t> was completely unused and filled with waste &amp; dust.</a:t>
            </a:r>
          </a:p>
          <a:p>
            <a:pPr marL="0" indent="0" algn="just">
              <a:buNone/>
            </a:pPr>
            <a:r>
              <a:rPr lang="en-GB" sz="3200" dirty="0" smtClean="0">
                <a:solidFill>
                  <a:srgbClr val="002060"/>
                </a:solidFill>
              </a:rPr>
              <a:t>• The place was unclean, unhygienic and was being misused for spitting and littering.</a:t>
            </a:r>
          </a:p>
          <a:p>
            <a:pPr marL="0" indent="0" algn="just">
              <a:buNone/>
            </a:pPr>
            <a:r>
              <a:rPr lang="en-GB" sz="3200" dirty="0" smtClean="0">
                <a:solidFill>
                  <a:srgbClr val="002060"/>
                </a:solidFill>
              </a:rPr>
              <a:t>• Our Security Team identified this neglected area and decided to transform it.</a:t>
            </a:r>
          </a:p>
          <a:p>
            <a:pPr marL="0" indent="0" algn="just">
              <a:buNone/>
            </a:pPr>
            <a:r>
              <a:rPr lang="en-GB" sz="3200" dirty="0" smtClean="0">
                <a:solidFill>
                  <a:srgbClr val="002060"/>
                </a:solidFill>
              </a:rPr>
              <a:t>• Initiative taken to clean the area and develop it into a Divine Shri Krishna Garden with plantation and seating.</a:t>
            </a:r>
            <a:endParaRPr lang="en-GB" sz="32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6826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10-03 at 3.50.23 PM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5300" y="1179443"/>
            <a:ext cx="1606550" cy="2546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WhatsApp Image 2026-10-03 at 3.50.25 PM (1)"/>
          <p:cNvPicPr>
            <a:picLocks noGrp="1" noChangeAspect="1"/>
          </p:cNvPicPr>
          <p:nvPr isPhoto="1"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199" y="3854726"/>
            <a:ext cx="1606550" cy="2546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WhatsApp Image 2026-10-03 at 3.50.25 PM"/>
          <p:cNvPicPr>
            <a:picLocks noGrp="1" noChangeAspect="1"/>
          </p:cNvPicPr>
          <p:nvPr isPhoto="1"/>
        </p:nvPicPr>
        <p:blipFill>
          <a:blip r:embed="rId4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5300" y="3854726"/>
            <a:ext cx="1606550" cy="2546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WhatsApp Image 2026-10-03 at 3.50.26 PM"/>
          <p:cNvPicPr>
            <a:picLocks noGrp="1" noChangeAspect="1"/>
          </p:cNvPicPr>
          <p:nvPr isPhoto="1"/>
        </p:nvPicPr>
        <p:blipFill>
          <a:blip r:embed="rId5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7996" y="1179443"/>
            <a:ext cx="1606550" cy="2546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WhatsApp Image 2026-10-03 at 3.50.27 PM"/>
          <p:cNvPicPr>
            <a:picLocks noGrp="1" noChangeAspect="1"/>
          </p:cNvPicPr>
          <p:nvPr isPhoto="1"/>
        </p:nvPicPr>
        <p:blipFill>
          <a:blip r:embed="rId6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2095" y="1179443"/>
            <a:ext cx="1606550" cy="2546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WhatsApp Image 2026-10-03 at 3.50.28 PM"/>
          <p:cNvPicPr>
            <a:picLocks noGrp="1" noChangeAspect="1"/>
          </p:cNvPicPr>
          <p:nvPr isPhoto="1"/>
        </p:nvPicPr>
        <p:blipFill>
          <a:blip r:embed="rId7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7996" y="3854726"/>
            <a:ext cx="1606550" cy="2546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 descr="WhatsApp Image 2026-10-03 at 3.50.31 PM"/>
          <p:cNvPicPr>
            <a:picLocks noGrp="1" noChangeAspect="1"/>
          </p:cNvPicPr>
          <p:nvPr isPhoto="1"/>
        </p:nvPicPr>
        <p:blipFill>
          <a:blip r:embed="rId8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2095" y="3854726"/>
            <a:ext cx="1606550" cy="2546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WhatsApp Image 2026-10-03 at 3.49.49 PM"/>
          <p:cNvPicPr>
            <a:picLocks noGrp="1" noChangeAspect="1"/>
          </p:cNvPicPr>
          <p:nvPr isPhoto="1"/>
        </p:nvPicPr>
        <p:blipFill>
          <a:blip r:embed="rId9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4792" y="1179443"/>
            <a:ext cx="1810027" cy="2546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 descr="WhatsApp Image 2026-10-04 at 11.22.01 PM"/>
          <p:cNvPicPr>
            <a:picLocks noGrp="1" noChangeAspect="1"/>
          </p:cNvPicPr>
          <p:nvPr isPhoto="1"/>
        </p:nvPicPr>
        <p:blipFill>
          <a:blip r:embed="rId10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4792" y="3854726"/>
            <a:ext cx="1810027" cy="2546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 descr="WhatsApp Image 2026-10-03 at 3.50.32 PM"/>
          <p:cNvPicPr>
            <a:picLocks noGrp="1" noChangeAspect="1"/>
          </p:cNvPicPr>
          <p:nvPr isPhoto="1"/>
        </p:nvPicPr>
        <p:blipFill>
          <a:blip r:embed="rId11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3325" y="3854726"/>
            <a:ext cx="1759990" cy="2546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 descr="WhatsApp Image 2026-10-04 at 8.42.22 AM"/>
          <p:cNvPicPr>
            <a:picLocks noGrp="1" noChangeAspect="1"/>
          </p:cNvPicPr>
          <p:nvPr isPhoto="1"/>
        </p:nvPicPr>
        <p:blipFill>
          <a:blip r:embed="rId1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3321" y="1179443"/>
            <a:ext cx="1759990" cy="2546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Picture 15" descr="WhatsApp Image 2026-10-04 at 10.06.49 PM (2)"/>
          <p:cNvPicPr>
            <a:picLocks noGrp="1" noChangeAspect="1"/>
          </p:cNvPicPr>
          <p:nvPr isPhoto="1"/>
        </p:nvPicPr>
        <p:blipFill>
          <a:blip r:embed="rId1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199" y="1179443"/>
            <a:ext cx="1606550" cy="2546074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Rectangle 16"/>
          <p:cNvSpPr/>
          <p:nvPr/>
        </p:nvSpPr>
        <p:spPr>
          <a:xfrm>
            <a:off x="371199" y="243365"/>
            <a:ext cx="1125744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400" b="1" smtClean="0">
                <a:solidFill>
                  <a:srgbClr val="002060"/>
                </a:solidFill>
              </a:rPr>
              <a:t>GREEN INITIATIVE: Security Guards Developing Shri Krishna Garden with Own Hands</a:t>
            </a:r>
            <a:endParaRPr lang="en-GB" sz="2400" b="1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3964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371060"/>
            <a:ext cx="10999304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b="1" dirty="0" smtClean="0">
                <a:solidFill>
                  <a:srgbClr val="002060"/>
                </a:solidFill>
              </a:rPr>
              <a:t>PLANTATION DRIVE BY SECURITY TEAM</a:t>
            </a:r>
          </a:p>
          <a:p>
            <a:pPr algn="just"/>
            <a:endParaRPr lang="en-GB" sz="2400" dirty="0" smtClean="0">
              <a:solidFill>
                <a:srgbClr val="002060"/>
              </a:solidFill>
            </a:endParaRPr>
          </a:p>
          <a:p>
            <a:pPr algn="just"/>
            <a:r>
              <a:rPr lang="en-GB" sz="2400" dirty="0" smtClean="0">
                <a:solidFill>
                  <a:srgbClr val="002060"/>
                </a:solidFill>
              </a:rPr>
              <a:t>• After cleaning the unused area, our Security Team started developing the Shri Krishna Garden.</a:t>
            </a:r>
          </a:p>
          <a:p>
            <a:pPr algn="just"/>
            <a:endParaRPr lang="en-GB" sz="2400" dirty="0" smtClean="0">
              <a:solidFill>
                <a:srgbClr val="002060"/>
              </a:solidFill>
            </a:endParaRPr>
          </a:p>
          <a:p>
            <a:pPr algn="just"/>
            <a:r>
              <a:rPr lang="en-GB" sz="2400" dirty="0" smtClean="0">
                <a:solidFill>
                  <a:srgbClr val="002060"/>
                </a:solidFill>
              </a:rPr>
              <a:t>• Security guards themselves digging pits, planting saplings with devotion and dedication.</a:t>
            </a:r>
          </a:p>
          <a:p>
            <a:pPr algn="just"/>
            <a:endParaRPr lang="en-GB" sz="2400" dirty="0" smtClean="0">
              <a:solidFill>
                <a:srgbClr val="002060"/>
              </a:solidFill>
            </a:endParaRPr>
          </a:p>
          <a:p>
            <a:pPr algn="just"/>
            <a:r>
              <a:rPr lang="en-GB" sz="2400" dirty="0" smtClean="0">
                <a:solidFill>
                  <a:srgbClr val="002060"/>
                </a:solidFill>
              </a:rPr>
              <a:t>• More than 50+ plants planted around Shri Krishna Sannidhana to create a green &amp; divine environment.</a:t>
            </a:r>
          </a:p>
          <a:p>
            <a:pPr algn="just"/>
            <a:endParaRPr lang="en-GB" sz="2400" dirty="0" smtClean="0">
              <a:solidFill>
                <a:srgbClr val="002060"/>
              </a:solidFill>
            </a:endParaRPr>
          </a:p>
          <a:p>
            <a:pPr algn="just"/>
            <a:r>
              <a:rPr lang="en-GB" sz="2400" dirty="0" smtClean="0">
                <a:solidFill>
                  <a:srgbClr val="002060"/>
                </a:solidFill>
              </a:rPr>
              <a:t>• Varieties Planted: Banana Trees, Flowering Plants, Show Plants &amp; Ornamental Plants for beautification and greenery.</a:t>
            </a:r>
          </a:p>
          <a:p>
            <a:pPr algn="just"/>
            <a:endParaRPr lang="en-GB" sz="2400" dirty="0" smtClean="0">
              <a:solidFill>
                <a:srgbClr val="002060"/>
              </a:solidFill>
            </a:endParaRPr>
          </a:p>
          <a:p>
            <a:pPr algn="just"/>
            <a:r>
              <a:rPr lang="en-GB" sz="2400" dirty="0" smtClean="0">
                <a:solidFill>
                  <a:srgbClr val="002060"/>
                </a:solidFill>
              </a:rPr>
              <a:t>• This is not just duty, but </a:t>
            </a:r>
            <a:r>
              <a:rPr lang="en-GB" sz="2400" dirty="0" err="1" smtClean="0">
                <a:solidFill>
                  <a:srgbClr val="002060"/>
                </a:solidFill>
              </a:rPr>
              <a:t>Seva</a:t>
            </a:r>
            <a:r>
              <a:rPr lang="en-GB" sz="2400" dirty="0" smtClean="0">
                <a:solidFill>
                  <a:srgbClr val="002060"/>
                </a:solidFill>
              </a:rPr>
              <a:t> - Transforming a waste land into a beautiful green &amp; divine garden with own hands.</a:t>
            </a:r>
          </a:p>
        </p:txBody>
      </p:sp>
    </p:spTree>
    <p:extLst>
      <p:ext uri="{BB962C8B-B14F-4D97-AF65-F5344CB8AC3E}">
        <p14:creationId xmlns:p14="http://schemas.microsoft.com/office/powerpoint/2010/main" val="8272129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10-07 at 11.42.50 AM (1)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940" y="1405234"/>
            <a:ext cx="5271052" cy="25571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WhatsApp Image 2026-10-07 at 11.42.50 AM"/>
          <p:cNvPicPr>
            <a:picLocks noGrp="1" noChangeAspect="1"/>
          </p:cNvPicPr>
          <p:nvPr isPhoto="1"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8340" y="1405234"/>
            <a:ext cx="5271052" cy="255716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WhatsApp Image 2026-10-07 at 11.42.51 AM (1)"/>
          <p:cNvPicPr>
            <a:picLocks noGrp="1" noChangeAspect="1"/>
          </p:cNvPicPr>
          <p:nvPr isPhoto="1"/>
        </p:nvPicPr>
        <p:blipFill>
          <a:blip r:embed="rId4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940" y="4213039"/>
            <a:ext cx="5271052" cy="255716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WhatsApp Image 2026-10-07 at 11.42.51 AM (2)"/>
          <p:cNvPicPr>
            <a:picLocks noGrp="1" noChangeAspect="1"/>
          </p:cNvPicPr>
          <p:nvPr isPhoto="1"/>
        </p:nvPicPr>
        <p:blipFill>
          <a:blip r:embed="rId5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8340" y="4213039"/>
            <a:ext cx="5271052" cy="255716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 6"/>
          <p:cNvSpPr/>
          <p:nvPr/>
        </p:nvSpPr>
        <p:spPr>
          <a:xfrm>
            <a:off x="543339" y="204906"/>
            <a:ext cx="1107881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400" b="1" dirty="0" smtClean="0">
                <a:solidFill>
                  <a:srgbClr val="002060"/>
                </a:solidFill>
              </a:rPr>
              <a:t>INSTALLATION CEREMONY AT IT PARK HUBBALLI</a:t>
            </a:r>
          </a:p>
          <a:p>
            <a:pPr algn="ctr"/>
            <a:r>
              <a:rPr lang="en-GB" sz="2400" b="1" dirty="0" smtClean="0">
                <a:solidFill>
                  <a:srgbClr val="002060"/>
                </a:solidFill>
              </a:rPr>
              <a:t>Idol installed with devotion at IT Park </a:t>
            </a:r>
            <a:r>
              <a:rPr lang="en-GB" sz="2400" b="1" dirty="0" err="1" smtClean="0">
                <a:solidFill>
                  <a:srgbClr val="002060"/>
                </a:solidFill>
              </a:rPr>
              <a:t>Pratishthapane</a:t>
            </a:r>
            <a:endParaRPr lang="en-GB" sz="2400" b="1" dirty="0" smtClean="0">
              <a:solidFill>
                <a:srgbClr val="002060"/>
              </a:solidFill>
            </a:endParaRPr>
          </a:p>
          <a:p>
            <a:pPr algn="just"/>
            <a:r>
              <a:rPr lang="en-GB" sz="2400" b="1" dirty="0" smtClean="0">
                <a:solidFill>
                  <a:srgbClr val="002060"/>
                </a:solidFill>
              </a:rPr>
              <a:t> done by Manager Vijay </a:t>
            </a:r>
            <a:r>
              <a:rPr lang="en-GB" sz="2400" b="1" dirty="0" err="1" smtClean="0">
                <a:solidFill>
                  <a:srgbClr val="002060"/>
                </a:solidFill>
              </a:rPr>
              <a:t>Dev</a:t>
            </a:r>
            <a:r>
              <a:rPr lang="en-GB" sz="2400" b="1" dirty="0" smtClean="0">
                <a:solidFill>
                  <a:srgbClr val="002060"/>
                </a:solidFill>
              </a:rPr>
              <a:t> Sir &amp; Training Centre Head </a:t>
            </a:r>
            <a:r>
              <a:rPr lang="en-GB" sz="2400" b="1" dirty="0" err="1" smtClean="0">
                <a:solidFill>
                  <a:srgbClr val="002060"/>
                </a:solidFill>
              </a:rPr>
              <a:t>Mahantesh</a:t>
            </a:r>
            <a:r>
              <a:rPr lang="en-GB" sz="2400" b="1" dirty="0" smtClean="0">
                <a:solidFill>
                  <a:srgbClr val="002060"/>
                </a:solidFill>
              </a:rPr>
              <a:t> </a:t>
            </a:r>
            <a:r>
              <a:rPr lang="en-GB" sz="2400" b="1" dirty="0" err="1" smtClean="0">
                <a:solidFill>
                  <a:srgbClr val="002060"/>
                </a:solidFill>
              </a:rPr>
              <a:t>Bannimarad</a:t>
            </a:r>
            <a:r>
              <a:rPr lang="en-GB" sz="2400" b="1" dirty="0" smtClean="0">
                <a:solidFill>
                  <a:srgbClr val="002060"/>
                </a:solidFill>
              </a:rPr>
              <a:t> Sir</a:t>
            </a:r>
            <a:endParaRPr lang="en-GB" sz="24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3638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10-05 at 12.02.56 PM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475" y="934279"/>
            <a:ext cx="2640581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WhatsApp Image 2026-10-05 at 12.02.57 PM"/>
          <p:cNvPicPr>
            <a:picLocks noGrp="1" noChangeAspect="1"/>
          </p:cNvPicPr>
          <p:nvPr isPhoto="1"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9973" y="3887857"/>
            <a:ext cx="2640581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WhatsApp Image 2026-10-05 at 12.02.58 PM (1)"/>
          <p:cNvPicPr>
            <a:picLocks noGrp="1" noChangeAspect="1"/>
          </p:cNvPicPr>
          <p:nvPr isPhoto="1"/>
        </p:nvPicPr>
        <p:blipFill>
          <a:blip r:embed="rId4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6434" y="934279"/>
            <a:ext cx="2585257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WhatsApp Image 2026-10-05 at 12.02.58 PM"/>
          <p:cNvPicPr>
            <a:picLocks noGrp="1" noChangeAspect="1"/>
          </p:cNvPicPr>
          <p:nvPr isPhoto="1"/>
        </p:nvPicPr>
        <p:blipFill>
          <a:blip r:embed="rId5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3956" y="934279"/>
            <a:ext cx="2609287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WhatsApp Image 2026-10-06 at 2.27.13 PM"/>
          <p:cNvPicPr>
            <a:picLocks noGrp="1" noChangeAspect="1"/>
          </p:cNvPicPr>
          <p:nvPr isPhoto="1"/>
        </p:nvPicPr>
        <p:blipFill>
          <a:blip r:embed="rId6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3956" y="3887857"/>
            <a:ext cx="2609287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WhatsApp Image 2026-10-05 at 12.02.55 PM"/>
          <p:cNvPicPr>
            <a:picLocks noGrp="1" noChangeAspect="1"/>
          </p:cNvPicPr>
          <p:nvPr isPhoto="1"/>
        </p:nvPicPr>
        <p:blipFill>
          <a:blip r:embed="rId7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6434" y="3887857"/>
            <a:ext cx="2585257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 descr="WhatsApp Image 2026-10-05 at 12.02.56 PM (1)"/>
          <p:cNvPicPr>
            <a:picLocks noGrp="1" noChangeAspect="1"/>
          </p:cNvPicPr>
          <p:nvPr isPhoto="1"/>
        </p:nvPicPr>
        <p:blipFill>
          <a:blip r:embed="rId8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9973" y="934279"/>
            <a:ext cx="2640581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WhatsApp Image 2026-10-03 at 3.49.50 PM (1)"/>
          <p:cNvPicPr>
            <a:picLocks noGrp="1" noChangeAspect="1"/>
          </p:cNvPicPr>
          <p:nvPr isPhoto="1"/>
        </p:nvPicPr>
        <p:blipFill>
          <a:blip r:embed="rId9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475" y="3887857"/>
            <a:ext cx="2630694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265043" y="106017"/>
            <a:ext cx="1165551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002060"/>
                </a:solidFill>
              </a:rPr>
              <a:t>BEAUTIFICATION WORK AT SHRI KRISHNA SANNIDHANA BY SECURITY STAFF </a:t>
            </a:r>
            <a:r>
              <a:rPr lang="en-GB" sz="2800" b="1" dirty="0" smtClean="0">
                <a:solidFill>
                  <a:srgbClr val="002060"/>
                </a:solidFill>
              </a:rPr>
              <a:t> </a:t>
            </a:r>
            <a:r>
              <a:rPr lang="en-GB" sz="2800" b="1" dirty="0">
                <a:solidFill>
                  <a:srgbClr val="002060"/>
                </a:solidFill>
              </a:rPr>
              <a:t>TILE &amp; FOOTPATH WORK</a:t>
            </a:r>
          </a:p>
        </p:txBody>
      </p:sp>
    </p:spTree>
    <p:extLst>
      <p:ext uri="{BB962C8B-B14F-4D97-AF65-F5344CB8AC3E}">
        <p14:creationId xmlns:p14="http://schemas.microsoft.com/office/powerpoint/2010/main" val="3558177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Grp="1" noChangeAspect="1"/>
          </p:cNvPicPr>
          <p:nvPr isPhoto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0641" y="3314699"/>
            <a:ext cx="4876801" cy="33113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 descr="WhatsApp Image 2026-10-06 at 2.49.15 PM"/>
          <p:cNvPicPr>
            <a:picLocks noGrp="1" noChangeAspect="1"/>
          </p:cNvPicPr>
          <p:nvPr isPhoto="1"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0642" y="258417"/>
            <a:ext cx="4876801" cy="305628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/>
          <p:nvPr/>
        </p:nvSpPr>
        <p:spPr>
          <a:xfrm>
            <a:off x="397565" y="683210"/>
            <a:ext cx="6096000" cy="526297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GB" sz="2400" b="1" dirty="0" smtClean="0">
                <a:solidFill>
                  <a:srgbClr val="002060"/>
                </a:solidFill>
              </a:rPr>
              <a:t>DIVINE IMPACT - A MEDITATION ZONE CREATED</a:t>
            </a:r>
          </a:p>
          <a:p>
            <a:pPr algn="just"/>
            <a:r>
              <a:rPr lang="en-GB" sz="2400" dirty="0" smtClean="0">
                <a:solidFill>
                  <a:srgbClr val="002060"/>
                </a:solidFill>
              </a:rPr>
              <a:t>• At the newly established Shri Krishna Sannidhana, an IT Park visitor came and sat in deep meditation.</a:t>
            </a:r>
          </a:p>
          <a:p>
            <a:pPr algn="just"/>
            <a:r>
              <a:rPr lang="en-GB" sz="2400" dirty="0" smtClean="0">
                <a:solidFill>
                  <a:srgbClr val="002060"/>
                </a:solidFill>
              </a:rPr>
              <a:t>• He was in complete peace and sat continuously for 1 hour in that divine atmosphere.</a:t>
            </a:r>
          </a:p>
          <a:p>
            <a:pPr algn="just"/>
            <a:r>
              <a:rPr lang="en-GB" sz="2400" dirty="0" smtClean="0">
                <a:solidFill>
                  <a:srgbClr val="002060"/>
                </a:solidFill>
              </a:rPr>
              <a:t>• The place which was once an unhygienic spitting zone is now transformed into a Peaceful Meditation Corner.</a:t>
            </a:r>
          </a:p>
          <a:p>
            <a:pPr algn="just"/>
            <a:r>
              <a:rPr lang="en-GB" sz="2400" dirty="0" smtClean="0">
                <a:solidFill>
                  <a:srgbClr val="002060"/>
                </a:solidFill>
              </a:rPr>
              <a:t>• This proves that - Where there is Divinity, there is Cleanliness and Peace. Where Notices Failed, Divinity Succeeded.</a:t>
            </a:r>
            <a:endParaRPr lang="en-GB" sz="24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1814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10-06 at 11.39.37 AM (1)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3415" y="927652"/>
            <a:ext cx="1606550" cy="26311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WhatsApp Image 2026-10-06 at 11.39.37 AM (2)"/>
          <p:cNvPicPr>
            <a:picLocks noGrp="1" noChangeAspect="1"/>
          </p:cNvPicPr>
          <p:nvPr isPhoto="1"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497" y="927652"/>
            <a:ext cx="1606550" cy="26311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WhatsApp Image 2026-10-06 at 11.39.37 AM"/>
          <p:cNvPicPr>
            <a:picLocks noGrp="1" noChangeAspect="1"/>
          </p:cNvPicPr>
          <p:nvPr isPhoto="1"/>
        </p:nvPicPr>
        <p:blipFill>
          <a:blip r:embed="rId4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9581" y="927652"/>
            <a:ext cx="1606550" cy="263112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5"/>
          <p:cNvSpPr/>
          <p:nvPr/>
        </p:nvSpPr>
        <p:spPr>
          <a:xfrm>
            <a:off x="1301856" y="244732"/>
            <a:ext cx="874015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3600" b="1" dirty="0" smtClean="0">
                <a:solidFill>
                  <a:srgbClr val="002060"/>
                </a:solidFill>
              </a:rPr>
              <a:t>Area cleaned and decorated - Became Divine</a:t>
            </a:r>
            <a:endParaRPr lang="en-GB" sz="3600" b="1" dirty="0">
              <a:solidFill>
                <a:srgbClr val="002060"/>
              </a:solidFill>
            </a:endParaRPr>
          </a:p>
        </p:txBody>
      </p:sp>
      <p:pic>
        <p:nvPicPr>
          <p:cNvPr id="8" name="Picture 7" descr="WhatsApp Image 2026-10-06 at 11.39.35 AM"/>
          <p:cNvPicPr>
            <a:picLocks noGrp="1" noChangeAspect="1"/>
          </p:cNvPicPr>
          <p:nvPr isPhoto="1"/>
        </p:nvPicPr>
        <p:blipFill>
          <a:blip r:embed="rId5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745" y="3809928"/>
            <a:ext cx="1606550" cy="25858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 descr="WhatsApp Image 2026-10-06 at 11.39.36 AM (1)"/>
          <p:cNvPicPr>
            <a:picLocks noGrp="1" noChangeAspect="1"/>
          </p:cNvPicPr>
          <p:nvPr isPhoto="1"/>
        </p:nvPicPr>
        <p:blipFill>
          <a:blip r:embed="rId6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663" y="3809928"/>
            <a:ext cx="1606550" cy="25858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WhatsApp Image 2026-10-06 at 11.39.36 AM (2)"/>
          <p:cNvPicPr>
            <a:picLocks noGrp="1" noChangeAspect="1"/>
          </p:cNvPicPr>
          <p:nvPr isPhoto="1"/>
        </p:nvPicPr>
        <p:blipFill>
          <a:blip r:embed="rId7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9581" y="3816626"/>
            <a:ext cx="1606550" cy="25858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 descr="WhatsApp Image 2026-10-06 at 2.42.28 PM"/>
          <p:cNvPicPr>
            <a:picLocks noGrp="1" noChangeAspect="1"/>
          </p:cNvPicPr>
          <p:nvPr isPhoto="1"/>
        </p:nvPicPr>
        <p:blipFill>
          <a:blip r:embed="rId8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2992" y="927652"/>
            <a:ext cx="5844208" cy="546810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56972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10-06 at 2.42.28 PM"/>
          <p:cNvPicPr>
            <a:picLocks noGrp="1" noChangeAspect="1"/>
          </p:cNvPicPr>
          <p:nvPr isPhoto="1"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1529" y="1838714"/>
            <a:ext cx="5698435" cy="452788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"/>
          <p:cNvSpPr/>
          <p:nvPr/>
        </p:nvSpPr>
        <p:spPr>
          <a:xfrm>
            <a:off x="0" y="124095"/>
            <a:ext cx="1197996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000" b="1" dirty="0">
                <a:solidFill>
                  <a:srgbClr val="002060"/>
                </a:solidFill>
              </a:rPr>
              <a:t>SPACE UTILIZATION SUCCESS: Before Tile Work </a:t>
            </a:r>
            <a:r>
              <a:rPr lang="en-GB" sz="2000" b="1" dirty="0" err="1">
                <a:solidFill>
                  <a:srgbClr val="002060"/>
                </a:solidFill>
              </a:rPr>
              <a:t>vs</a:t>
            </a:r>
            <a:r>
              <a:rPr lang="en-GB" sz="2000" b="1" dirty="0">
                <a:solidFill>
                  <a:srgbClr val="002060"/>
                </a:solidFill>
              </a:rPr>
              <a:t> After Complete Development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6382" y="638385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GB" b="1" dirty="0" smtClean="0">
                <a:solidFill>
                  <a:srgbClr val="002060"/>
                </a:solidFill>
              </a:rPr>
              <a:t>BEFORE </a:t>
            </a:r>
            <a:r>
              <a:rPr lang="en-GB" b="1" dirty="0">
                <a:solidFill>
                  <a:srgbClr val="002060"/>
                </a:solidFill>
              </a:rPr>
              <a:t>TILE WORK (Without Krishna</a:t>
            </a:r>
            <a:r>
              <a:rPr lang="en-GB" b="1" dirty="0" smtClean="0">
                <a:solidFill>
                  <a:srgbClr val="002060"/>
                </a:solidFill>
              </a:rPr>
              <a:t>):</a:t>
            </a:r>
          </a:p>
          <a:p>
            <a:pPr algn="ctr"/>
            <a:r>
              <a:rPr lang="en-GB" b="1" dirty="0" smtClean="0">
                <a:solidFill>
                  <a:srgbClr val="002060"/>
                </a:solidFill>
              </a:rPr>
              <a:t>• </a:t>
            </a:r>
            <a:r>
              <a:rPr lang="en-GB" b="1" dirty="0">
                <a:solidFill>
                  <a:srgbClr val="002060"/>
                </a:solidFill>
              </a:rPr>
              <a:t>Ground was muddy, uneven and not suitable for sitting</a:t>
            </a:r>
            <a:r>
              <a:rPr lang="en-GB" b="1" dirty="0" smtClean="0">
                <a:solidFill>
                  <a:srgbClr val="002060"/>
                </a:solidFill>
              </a:rPr>
              <a:t>.</a:t>
            </a:r>
          </a:p>
          <a:p>
            <a:pPr algn="ctr"/>
            <a:r>
              <a:rPr lang="en-GB" b="1" dirty="0" smtClean="0">
                <a:solidFill>
                  <a:srgbClr val="002060"/>
                </a:solidFill>
              </a:rPr>
              <a:t>• </a:t>
            </a:r>
            <a:r>
              <a:rPr lang="en-GB" b="1" dirty="0">
                <a:solidFill>
                  <a:srgbClr val="002060"/>
                </a:solidFill>
              </a:rPr>
              <a:t>No tiles, no seating arrangement, completely unutilized space.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42382" y="519740"/>
            <a:ext cx="6096000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GB" sz="1600" b="1" dirty="0">
                <a:solidFill>
                  <a:srgbClr val="002060"/>
                </a:solidFill>
              </a:rPr>
              <a:t>AFTER ALL WORK (People Resting</a:t>
            </a:r>
            <a:r>
              <a:rPr lang="en-GB" sz="1600" b="1" dirty="0" smtClean="0">
                <a:solidFill>
                  <a:srgbClr val="002060"/>
                </a:solidFill>
              </a:rPr>
              <a:t>):</a:t>
            </a:r>
          </a:p>
          <a:p>
            <a:pPr algn="just"/>
            <a:r>
              <a:rPr lang="en-GB" sz="1600" b="1" dirty="0" smtClean="0">
                <a:solidFill>
                  <a:srgbClr val="002060"/>
                </a:solidFill>
              </a:rPr>
              <a:t>• </a:t>
            </a:r>
            <a:r>
              <a:rPr lang="en-GB" sz="1600" b="1" dirty="0">
                <a:solidFill>
                  <a:srgbClr val="002060"/>
                </a:solidFill>
              </a:rPr>
              <a:t>After plantation, cleaning and tile development, area became clean &amp; beautiful</a:t>
            </a:r>
            <a:r>
              <a:rPr lang="en-GB" sz="1600" b="1" dirty="0" smtClean="0">
                <a:solidFill>
                  <a:srgbClr val="002060"/>
                </a:solidFill>
              </a:rPr>
              <a:t>.</a:t>
            </a:r>
          </a:p>
          <a:p>
            <a:pPr algn="just"/>
            <a:r>
              <a:rPr lang="en-GB" sz="1600" b="1" dirty="0" smtClean="0">
                <a:solidFill>
                  <a:srgbClr val="002060"/>
                </a:solidFill>
              </a:rPr>
              <a:t>• </a:t>
            </a:r>
            <a:r>
              <a:rPr lang="en-GB" sz="1600" b="1" dirty="0">
                <a:solidFill>
                  <a:srgbClr val="002060"/>
                </a:solidFill>
              </a:rPr>
              <a:t>Now IT Park staff and visitors are coming, sitting peacefully and taking rest .</a:t>
            </a:r>
          </a:p>
        </p:txBody>
      </p:sp>
      <p:sp>
        <p:nvSpPr>
          <p:cNvPr id="7" name="Rectangle 6"/>
          <p:cNvSpPr/>
          <p:nvPr/>
        </p:nvSpPr>
        <p:spPr>
          <a:xfrm>
            <a:off x="198783" y="1854288"/>
            <a:ext cx="5943599" cy="4512310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3934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442148"/>
            <a:ext cx="1082702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 smtClean="0">
                <a:solidFill>
                  <a:srgbClr val="002060"/>
                </a:solidFill>
              </a:rPr>
              <a:t>FINAL OUTCOME: From Spitting Zone to Peaceful Meditation Zone - 100% Controlled</a:t>
            </a:r>
            <a:endParaRPr lang="en-GB" sz="2400" b="1" dirty="0">
              <a:solidFill>
                <a:srgbClr val="00206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09600" y="1166192"/>
            <a:ext cx="10827026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400" b="1" dirty="0" smtClean="0">
                <a:solidFill>
                  <a:srgbClr val="002060"/>
                </a:solidFill>
              </a:rPr>
              <a:t>OUTCOME: DIVINE TRANSFORMATION </a:t>
            </a:r>
            <a:r>
              <a:rPr lang="en-GB" sz="2400" b="1" dirty="0" smtClean="0">
                <a:solidFill>
                  <a:srgbClr val="002060"/>
                </a:solidFill>
              </a:rPr>
              <a:t>SUCCESSFUL</a:t>
            </a:r>
          </a:p>
          <a:p>
            <a:pPr algn="ctr"/>
            <a:endParaRPr lang="en-GB" sz="2400" b="1" dirty="0" smtClean="0">
              <a:solidFill>
                <a:srgbClr val="002060"/>
              </a:solidFill>
            </a:endParaRPr>
          </a:p>
          <a:p>
            <a:pPr algn="just"/>
            <a:r>
              <a:rPr lang="en-GB" sz="2400" b="1" dirty="0" smtClean="0">
                <a:solidFill>
                  <a:srgbClr val="002060"/>
                </a:solidFill>
              </a:rPr>
              <a:t>• Earlier uncontrollable spitting, littering &amp; unhygienic practices are now 100% under control.</a:t>
            </a:r>
          </a:p>
          <a:p>
            <a:pPr algn="just"/>
            <a:r>
              <a:rPr lang="en-GB" sz="2400" b="1" dirty="0" smtClean="0">
                <a:solidFill>
                  <a:srgbClr val="002060"/>
                </a:solidFill>
              </a:rPr>
              <a:t>• The place where people used to spit </a:t>
            </a:r>
            <a:r>
              <a:rPr lang="en-GB" sz="2400" b="1" dirty="0" err="1" smtClean="0">
                <a:solidFill>
                  <a:srgbClr val="002060"/>
                </a:solidFill>
              </a:rPr>
              <a:t>Gutkha</a:t>
            </a:r>
            <a:r>
              <a:rPr lang="en-GB" sz="2400" b="1" dirty="0" smtClean="0">
                <a:solidFill>
                  <a:srgbClr val="002060"/>
                </a:solidFill>
              </a:rPr>
              <a:t> &amp; </a:t>
            </a:r>
            <a:r>
              <a:rPr lang="en-GB" sz="2400" b="1" dirty="0" err="1" smtClean="0">
                <a:solidFill>
                  <a:srgbClr val="002060"/>
                </a:solidFill>
              </a:rPr>
              <a:t>Paan</a:t>
            </a:r>
            <a:r>
              <a:rPr lang="en-GB" sz="2400" b="1" dirty="0" smtClean="0">
                <a:solidFill>
                  <a:srgbClr val="002060"/>
                </a:solidFill>
              </a:rPr>
              <a:t> has now become a Divine and Peaceful Corner.</a:t>
            </a:r>
          </a:p>
          <a:p>
            <a:pPr algn="just"/>
            <a:r>
              <a:rPr lang="en-GB" sz="2400" b="1" dirty="0" smtClean="0">
                <a:solidFill>
                  <a:srgbClr val="002060"/>
                </a:solidFill>
              </a:rPr>
              <a:t>• Now people come there, sit peacefully and do meditation (</a:t>
            </a:r>
            <a:r>
              <a:rPr lang="en-GB" sz="2400" b="1" dirty="0" err="1" smtClean="0">
                <a:solidFill>
                  <a:srgbClr val="002060"/>
                </a:solidFill>
              </a:rPr>
              <a:t>Dhyana</a:t>
            </a:r>
            <a:r>
              <a:rPr lang="en-GB" sz="2400" b="1" dirty="0" smtClean="0">
                <a:solidFill>
                  <a:srgbClr val="002060"/>
                </a:solidFill>
              </a:rPr>
              <a:t>) with calm mind.</a:t>
            </a:r>
          </a:p>
          <a:p>
            <a:pPr algn="just"/>
            <a:r>
              <a:rPr lang="en-GB" sz="2400" b="1" dirty="0" smtClean="0">
                <a:solidFill>
                  <a:srgbClr val="002060"/>
                </a:solidFill>
              </a:rPr>
              <a:t>• Visitors and staff sit near Lord Krishna, feel positivity and inner peace.</a:t>
            </a:r>
          </a:p>
          <a:p>
            <a:pPr algn="just"/>
            <a:r>
              <a:rPr lang="en-GB" sz="2400" b="1" dirty="0" smtClean="0">
                <a:solidFill>
                  <a:srgbClr val="002060"/>
                </a:solidFill>
              </a:rPr>
              <a:t>• A Spitting Zone has been transformed into a Meditation Zone - A True Success of </a:t>
            </a:r>
            <a:r>
              <a:rPr lang="en-GB" sz="2400" b="1" dirty="0" err="1" smtClean="0">
                <a:solidFill>
                  <a:srgbClr val="002060"/>
                </a:solidFill>
              </a:rPr>
              <a:t>Bhaya</a:t>
            </a:r>
            <a:r>
              <a:rPr lang="en-GB" sz="2400" b="1" dirty="0" smtClean="0">
                <a:solidFill>
                  <a:srgbClr val="002060"/>
                </a:solidFill>
              </a:rPr>
              <a:t>-Bhakti Concept.</a:t>
            </a:r>
          </a:p>
          <a:p>
            <a:pPr algn="just"/>
            <a:r>
              <a:rPr lang="en-GB" sz="2400" b="1" dirty="0">
                <a:solidFill>
                  <a:srgbClr val="002060"/>
                </a:solidFill>
              </a:rPr>
              <a:t>FINAL OUTCOME: An Unused Muddy Area is Now a Clean, Green and Useful Public Relaxation Zone - Maintained by Security Team.</a:t>
            </a:r>
          </a:p>
        </p:txBody>
      </p:sp>
    </p:spTree>
    <p:extLst>
      <p:ext uri="{BB962C8B-B14F-4D97-AF65-F5344CB8AC3E}">
        <p14:creationId xmlns:p14="http://schemas.microsoft.com/office/powerpoint/2010/main" val="2334103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16834" y="177104"/>
            <a:ext cx="1114507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400" b="1" dirty="0">
                <a:solidFill>
                  <a:srgbClr val="002060"/>
                </a:solidFill>
              </a:rPr>
              <a:t>NEXT INITIATIVE: SHRI KRISHNA SANNIDHANA MANTAPA - Effort by Security Team</a:t>
            </a:r>
          </a:p>
        </p:txBody>
      </p:sp>
      <p:sp>
        <p:nvSpPr>
          <p:cNvPr id="3" name="Rectangle 2"/>
          <p:cNvSpPr/>
          <p:nvPr/>
        </p:nvSpPr>
        <p:spPr>
          <a:xfrm>
            <a:off x="516834" y="638769"/>
            <a:ext cx="11304105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400" b="1" dirty="0">
                <a:solidFill>
                  <a:srgbClr val="002060"/>
                </a:solidFill>
              </a:rPr>
              <a:t>FUTURE PLAN - MANTAPA CONSTRUCTION WITH WASTE </a:t>
            </a:r>
            <a:r>
              <a:rPr lang="en-GB" sz="2400" b="1" dirty="0" smtClean="0">
                <a:solidFill>
                  <a:srgbClr val="002060"/>
                </a:solidFill>
              </a:rPr>
              <a:t>RESOURCES</a:t>
            </a:r>
          </a:p>
          <a:p>
            <a:pPr algn="just"/>
            <a:r>
              <a:rPr lang="en-GB" sz="2400" b="1" dirty="0" smtClean="0">
                <a:solidFill>
                  <a:srgbClr val="002060"/>
                </a:solidFill>
              </a:rPr>
              <a:t>Initiative </a:t>
            </a:r>
            <a:r>
              <a:rPr lang="en-GB" sz="2400" b="1" dirty="0">
                <a:solidFill>
                  <a:srgbClr val="002060"/>
                </a:solidFill>
              </a:rPr>
              <a:t>by Security Team</a:t>
            </a:r>
            <a:r>
              <a:rPr lang="en-GB" sz="2400" b="1" dirty="0" smtClean="0">
                <a:solidFill>
                  <a:srgbClr val="002060"/>
                </a:solidFill>
              </a:rPr>
              <a:t>:</a:t>
            </a:r>
          </a:p>
          <a:p>
            <a:pPr algn="just"/>
            <a:r>
              <a:rPr lang="en-GB" sz="2400" dirty="0" smtClean="0">
                <a:solidFill>
                  <a:srgbClr val="002060"/>
                </a:solidFill>
              </a:rPr>
              <a:t>• </a:t>
            </a:r>
            <a:r>
              <a:rPr lang="en-GB" sz="2400" dirty="0">
                <a:solidFill>
                  <a:srgbClr val="002060"/>
                </a:solidFill>
              </a:rPr>
              <a:t>Security guards are now putting effort to build a small </a:t>
            </a:r>
            <a:r>
              <a:rPr lang="en-GB" sz="2400" dirty="0" err="1">
                <a:solidFill>
                  <a:srgbClr val="002060"/>
                </a:solidFill>
              </a:rPr>
              <a:t>Mantapa</a:t>
            </a:r>
            <a:r>
              <a:rPr lang="en-GB" sz="2400" dirty="0">
                <a:solidFill>
                  <a:srgbClr val="002060"/>
                </a:solidFill>
              </a:rPr>
              <a:t> (Roof/Shelter) over Shri Krishna Sannidhana</a:t>
            </a:r>
            <a:r>
              <a:rPr lang="en-GB" sz="2400" dirty="0" smtClean="0">
                <a:solidFill>
                  <a:srgbClr val="002060"/>
                </a:solidFill>
              </a:rPr>
              <a:t>. </a:t>
            </a:r>
          </a:p>
          <a:p>
            <a:pPr algn="just"/>
            <a:r>
              <a:rPr lang="en-GB" sz="2400" b="1" dirty="0" smtClean="0">
                <a:solidFill>
                  <a:srgbClr val="002060"/>
                </a:solidFill>
              </a:rPr>
              <a:t>Use </a:t>
            </a:r>
            <a:r>
              <a:rPr lang="en-GB" sz="2400" b="1" dirty="0">
                <a:solidFill>
                  <a:srgbClr val="002060"/>
                </a:solidFill>
              </a:rPr>
              <a:t>of Waste Resources - Zero Cost Concept</a:t>
            </a:r>
            <a:r>
              <a:rPr lang="en-GB" sz="2400" b="1" dirty="0" smtClean="0">
                <a:solidFill>
                  <a:srgbClr val="002060"/>
                </a:solidFill>
              </a:rPr>
              <a:t>:</a:t>
            </a:r>
          </a:p>
          <a:p>
            <a:pPr algn="just"/>
            <a:r>
              <a:rPr lang="en-GB" sz="2400" dirty="0" smtClean="0">
                <a:solidFill>
                  <a:srgbClr val="002060"/>
                </a:solidFill>
              </a:rPr>
              <a:t>• </a:t>
            </a:r>
            <a:r>
              <a:rPr lang="en-GB" sz="2400" dirty="0">
                <a:solidFill>
                  <a:srgbClr val="002060"/>
                </a:solidFill>
              </a:rPr>
              <a:t>No new purchase - Using unused / waste resources already available in IT Park</a:t>
            </a:r>
            <a:r>
              <a:rPr lang="en-GB" sz="2400" dirty="0" smtClean="0">
                <a:solidFill>
                  <a:srgbClr val="002060"/>
                </a:solidFill>
              </a:rPr>
              <a:t>.</a:t>
            </a:r>
          </a:p>
          <a:p>
            <a:pPr algn="just"/>
            <a:r>
              <a:rPr lang="en-GB" sz="2400" dirty="0" smtClean="0">
                <a:solidFill>
                  <a:srgbClr val="002060"/>
                </a:solidFill>
              </a:rPr>
              <a:t>• </a:t>
            </a:r>
            <a:r>
              <a:rPr lang="en-GB" sz="2400" dirty="0">
                <a:solidFill>
                  <a:srgbClr val="002060"/>
                </a:solidFill>
              </a:rPr>
              <a:t>Small iron </a:t>
            </a:r>
            <a:r>
              <a:rPr lang="en-GB" sz="2400" dirty="0" smtClean="0">
                <a:solidFill>
                  <a:srgbClr val="002060"/>
                </a:solidFill>
              </a:rPr>
              <a:t>pieces, </a:t>
            </a:r>
            <a:r>
              <a:rPr lang="en-GB" sz="2400" dirty="0">
                <a:solidFill>
                  <a:srgbClr val="002060"/>
                </a:solidFill>
              </a:rPr>
              <a:t>waste iron rods and scrap materials are collected and kept ready</a:t>
            </a:r>
            <a:r>
              <a:rPr lang="en-GB" sz="2400" dirty="0" smtClean="0">
                <a:solidFill>
                  <a:srgbClr val="002060"/>
                </a:solidFill>
              </a:rPr>
              <a:t>.</a:t>
            </a:r>
          </a:p>
          <a:p>
            <a:pPr algn="just"/>
            <a:r>
              <a:rPr lang="en-GB" sz="2400" dirty="0" smtClean="0">
                <a:solidFill>
                  <a:srgbClr val="002060"/>
                </a:solidFill>
              </a:rPr>
              <a:t>• </a:t>
            </a:r>
            <a:r>
              <a:rPr lang="en-GB" sz="2400" dirty="0">
                <a:solidFill>
                  <a:srgbClr val="002060"/>
                </a:solidFill>
              </a:rPr>
              <a:t>Collected waste materials will be re-used to fabricate the </a:t>
            </a:r>
            <a:r>
              <a:rPr lang="en-GB" sz="2400" dirty="0" err="1">
                <a:solidFill>
                  <a:srgbClr val="002060"/>
                </a:solidFill>
              </a:rPr>
              <a:t>Mantapa</a:t>
            </a:r>
            <a:r>
              <a:rPr lang="en-GB" sz="2400" dirty="0">
                <a:solidFill>
                  <a:srgbClr val="002060"/>
                </a:solidFill>
              </a:rPr>
              <a:t> structure</a:t>
            </a:r>
            <a:r>
              <a:rPr lang="en-GB" sz="2400" dirty="0" smtClean="0">
                <a:solidFill>
                  <a:srgbClr val="002060"/>
                </a:solidFill>
              </a:rPr>
              <a:t>.</a:t>
            </a:r>
          </a:p>
          <a:p>
            <a:pPr algn="just"/>
            <a:r>
              <a:rPr lang="en-GB" sz="2400" b="1" dirty="0" smtClean="0">
                <a:solidFill>
                  <a:srgbClr val="002060"/>
                </a:solidFill>
              </a:rPr>
              <a:t>Purpose:</a:t>
            </a:r>
          </a:p>
          <a:p>
            <a:pPr algn="just"/>
            <a:r>
              <a:rPr lang="en-GB" sz="2400" dirty="0" smtClean="0">
                <a:solidFill>
                  <a:srgbClr val="002060"/>
                </a:solidFill>
              </a:rPr>
              <a:t>• </a:t>
            </a:r>
            <a:r>
              <a:rPr lang="en-GB" sz="2400" dirty="0">
                <a:solidFill>
                  <a:srgbClr val="002060"/>
                </a:solidFill>
              </a:rPr>
              <a:t>To protect Shri Krishna Idol from direct sunlight &amp; rain</a:t>
            </a:r>
            <a:r>
              <a:rPr lang="en-GB" sz="2400" dirty="0" smtClean="0">
                <a:solidFill>
                  <a:srgbClr val="002060"/>
                </a:solidFill>
              </a:rPr>
              <a:t>.</a:t>
            </a:r>
          </a:p>
          <a:p>
            <a:pPr algn="just"/>
            <a:r>
              <a:rPr lang="en-GB" sz="2400" dirty="0" smtClean="0">
                <a:solidFill>
                  <a:srgbClr val="002060"/>
                </a:solidFill>
              </a:rPr>
              <a:t>• </a:t>
            </a:r>
            <a:r>
              <a:rPr lang="en-GB" sz="2400" dirty="0">
                <a:solidFill>
                  <a:srgbClr val="002060"/>
                </a:solidFill>
              </a:rPr>
              <a:t>To give a complete divine and temple-like look to the Sannidhana</a:t>
            </a:r>
            <a:r>
              <a:rPr lang="en-GB" sz="2400" dirty="0" smtClean="0">
                <a:solidFill>
                  <a:srgbClr val="002060"/>
                </a:solidFill>
              </a:rPr>
              <a:t>.</a:t>
            </a:r>
          </a:p>
          <a:p>
            <a:pPr algn="just"/>
            <a:r>
              <a:rPr lang="en-GB" sz="2400" dirty="0" smtClean="0">
                <a:solidFill>
                  <a:srgbClr val="002060"/>
                </a:solidFill>
              </a:rPr>
              <a:t>• </a:t>
            </a:r>
            <a:r>
              <a:rPr lang="en-GB" sz="2400" dirty="0">
                <a:solidFill>
                  <a:srgbClr val="002060"/>
                </a:solidFill>
              </a:rPr>
              <a:t>To show that waste can be converted into useful divine structure</a:t>
            </a:r>
            <a:r>
              <a:rPr lang="en-GB" sz="2400" dirty="0" smtClean="0">
                <a:solidFill>
                  <a:srgbClr val="002060"/>
                </a:solidFill>
              </a:rPr>
              <a:t>.</a:t>
            </a:r>
          </a:p>
          <a:p>
            <a:pPr algn="just"/>
            <a:r>
              <a:rPr lang="en-GB" sz="2400" b="1" dirty="0" smtClean="0">
                <a:solidFill>
                  <a:srgbClr val="002060"/>
                </a:solidFill>
              </a:rPr>
              <a:t>Status</a:t>
            </a:r>
            <a:r>
              <a:rPr lang="en-GB" sz="2400" b="1" dirty="0">
                <a:solidFill>
                  <a:srgbClr val="002060"/>
                </a:solidFill>
              </a:rPr>
              <a:t>: </a:t>
            </a:r>
            <a:endParaRPr lang="en-GB" sz="2400" b="1" dirty="0" smtClean="0">
              <a:solidFill>
                <a:srgbClr val="002060"/>
              </a:solidFill>
            </a:endParaRPr>
          </a:p>
          <a:p>
            <a:pPr algn="just"/>
            <a:r>
              <a:rPr lang="en-GB" sz="2400" dirty="0" smtClean="0">
                <a:solidFill>
                  <a:srgbClr val="002060"/>
                </a:solidFill>
              </a:rPr>
              <a:t>Material </a:t>
            </a:r>
            <a:r>
              <a:rPr lang="en-GB" sz="2400" dirty="0">
                <a:solidFill>
                  <a:srgbClr val="002060"/>
                </a:solidFill>
              </a:rPr>
              <a:t>Collection Done - Work in </a:t>
            </a:r>
            <a:r>
              <a:rPr lang="en-GB" sz="2400" dirty="0" smtClean="0">
                <a:solidFill>
                  <a:srgbClr val="002060"/>
                </a:solidFill>
              </a:rPr>
              <a:t>Progress.</a:t>
            </a:r>
          </a:p>
        </p:txBody>
      </p:sp>
    </p:spTree>
    <p:extLst>
      <p:ext uri="{BB962C8B-B14F-4D97-AF65-F5344CB8AC3E}">
        <p14:creationId xmlns:p14="http://schemas.microsoft.com/office/powerpoint/2010/main" val="13761526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9025" y="216861"/>
            <a:ext cx="1178118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800" b="1" dirty="0" smtClean="0">
                <a:solidFill>
                  <a:srgbClr val="002060"/>
                </a:solidFill>
              </a:rPr>
              <a:t> </a:t>
            </a:r>
            <a:r>
              <a:rPr lang="en-GB" sz="2800" b="1" dirty="0">
                <a:solidFill>
                  <a:srgbClr val="002060"/>
                </a:solidFill>
              </a:rPr>
              <a:t>Photo: Waste iron pieces collected and kept at site - Proof of initiative.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970" y="740081"/>
            <a:ext cx="3389312" cy="293077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970" y="3829089"/>
            <a:ext cx="3389312" cy="28581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7033" y="3829089"/>
            <a:ext cx="3389312" cy="28581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3096" y="3829089"/>
            <a:ext cx="3389312" cy="28581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7033" y="740081"/>
            <a:ext cx="3389312" cy="293077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3096" y="740081"/>
            <a:ext cx="3389312" cy="2930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5124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974724"/>
            <a:ext cx="10515600" cy="1325563"/>
          </a:xfrm>
        </p:spPr>
        <p:txBody>
          <a:bodyPr/>
          <a:lstStyle/>
          <a:p>
            <a:pPr algn="ctr"/>
            <a:r>
              <a:rPr lang="en-GB" b="1" dirty="0" smtClean="0">
                <a:solidFill>
                  <a:srgbClr val="002060"/>
                </a:solidFill>
              </a:rPr>
              <a:t>THANK YOU FOR WATCHING </a:t>
            </a:r>
            <a:endParaRPr lang="en-GB" b="1" dirty="0">
              <a:solidFill>
                <a:srgbClr val="002060"/>
              </a:solidFill>
            </a:endParaRPr>
          </a:p>
        </p:txBody>
      </p:sp>
      <p:pic>
        <p:nvPicPr>
          <p:cNvPr id="3" name="Picture 2" descr="WhatsApp Image 2026-10-07 at 11.45.32 AM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7251" y="2696817"/>
            <a:ext cx="2857500" cy="2857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25511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232</TotalTime>
  <Words>1040</Words>
  <Application>Microsoft Office PowerPoint</Application>
  <PresentationFormat>Widescreen</PresentationFormat>
  <Paragraphs>98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FOR WATCHING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itp</dc:creator>
  <cp:lastModifiedBy>itp</cp:lastModifiedBy>
  <cp:revision>12</cp:revision>
  <dcterms:created xsi:type="dcterms:W3CDTF">2026-10-07T05:59:55Z</dcterms:created>
  <dcterms:modified xsi:type="dcterms:W3CDTF">2026-10-09T07:44:08Z</dcterms:modified>
</cp:coreProperties>
</file>